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2" r:id="rId18"/>
    <p:sldId id="257" r:id="rId3"/>
    <p:sldId id="258" r:id="rId4"/>
    <p:sldId id="267" r:id="rId13"/>
    <p:sldId id="270" r:id="rId16"/>
    <p:sldId id="264" r:id="rId10"/>
    <p:sldId id="265" r:id="rId11"/>
    <p:sldId id="261" r:id="rId7"/>
    <p:sldId id="284" r:id="rId35"/>
    <p:sldId id="285" r:id="rId36"/>
    <p:sldId id="262" r:id="rId8"/>
    <p:sldId id="286" r:id="rId37"/>
    <p:sldId id="276" r:id="rId27"/>
    <p:sldId id="259" r:id="rId5"/>
    <p:sldId id="260" r:id="rId6"/>
    <p:sldId id="263" r:id="rId9"/>
    <p:sldId id="269" r:id="rId15"/>
    <p:sldId id="287" r:id="rId38"/>
    <p:sldId id="288" r:id="rId39"/>
    <p:sldId id="268" r:id="rId14"/>
    <p:sldId id="271" r:id="rId17"/>
    <p:sldId id="277" r:id="rId28"/>
    <p:sldId id="266" r:id="rId12"/>
    <p:sldId id="278" r:id="rId29"/>
    <p:sldId id="273" r:id="rId19"/>
    <p:sldId id="289" r:id="rId40"/>
    <p:sldId id="290" r:id="rId41"/>
    <p:sldId id="291" r:id="rId42"/>
    <p:sldId id="280" r:id="rId31"/>
    <p:sldId id="275" r:id="rId21"/>
    <p:sldId id="281" r:id="rId32"/>
    <p:sldId id="282" r:id="rId33"/>
    <p:sldId id="283" r:id="rId3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ゼミ発表：極大クリーク列挙の並列化。研究内容と、ここまでに学んだこと（BK → Tomita → Eppstein → 並列化）を説明する。</a:t>
            </a:r>
          </a:p>
          <a:p>
            <a:r>
              <a:rPr lang="ja-JP"/>
              <a:t>所属・氏名・日付は（未記入）。</a:t>
            </a:r>
          </a:p>
          <a:p>
            <a:r>
              <a:rPr lang="ja-JP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なぜ極大クリークを全部列挙したいのか：①大きいグラフで「まとまり」を全部見つけたい ②単純な全探索は現実的でない→賢い列挙が必要 ③速い逐次手法があっても大規模では並列が欲しい。</a:t>
            </a:r>
          </a:p>
          <a:p>
            <a:r>
              <a:rPr lang="ja-JP"/>
              <a:t>具体的な応用例・数値は出典にないので載せていない。</a:t>
            </a:r>
          </a:p>
          <a:p>
            <a:r>
              <a:rPr lang="ja-JP"/>
              <a:t>出典：/workspace/sotsuken/slide-draft.md 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定義：クリーク／極大／最大。例グラフ（辺 1-2,1-5,2-3,2-5,3-4,4-5,4-6）で {1,2,5} は極大かつ最大、{4,6} は極大だが最大でない。</a:t>
            </a:r>
          </a:p>
          <a:p>
            <a:r>
              <a:rPr lang="ja-JP" dirty="0"/>
              <a:t>出典：/workspace/sotsuken/bk-sample-graph.png（.svg）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最悪 O(3^{n/3})（Tomita ら 2006）は Moon–Moser の上界 3^{n/3} 個と一致。k^{1/k} は整数 k=3 で最大。</a:t>
            </a:r>
          </a:p>
          <a:p>
            <a:r>
              <a:rPr lang="ja-JP" dirty="0"/>
              <a:t>出典：/workspace/sotsuken/moon-moser.png、/workspace/sotsuken/seminar-outline.md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縮退と縮退数 d。</a:t>
            </a:r>
          </a:p>
          <a:p>
            <a:r>
              <a:rPr lang="ja-JP" dirty="0"/>
              <a:t>出典：Eppstein, Löffler, Strash 2010, arXiv:1006.5440（/workspace/sotsuken/papers/eppstein-2010-listing-maximal-cliques.pdf）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BK の擬似コード（ピボットなし）。最初の呼び出しは BK(∅, V, ∅)。</a:t>
            </a:r>
          </a:p>
          <a:p>
            <a:r>
              <a:rPr lang="ja-JP" dirty="0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ピボットの考え方。例：Tomita の根で u=2、N(2)={1,3,5}、分岐 {2,4,6}。</a:t>
            </a:r>
          </a:p>
          <a:p>
            <a:r>
              <a:rPr lang="ja-JP" dirty="0"/>
              <a:t>出典：/workspace/sotsuken/worked/worked.txt（Tomita トレース）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例グラフの剥がし順 6,1,2,3,4,5、各時点の次数 1,2,2,1,1,0、d=2。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1点ずつ伸ばす素朴な方法では {1,2,5} が足す順番だけ違って 3! = 6 回出る（辺 1-2,1-5,2-5 から確認できる）。→ BK の P と X。</a:t>
            </a:r>
          </a:p>
          <a:p>
            <a:r>
              <a:rPr lang="ja-JP" dirty="0"/>
              <a:t>出典：/workspace/sotsuken/seminar-outline.md、bk-sample-graph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R / P / X の意味。例 R={1}, P={2,5}, X=∅ は BK トレースの2行目。P=∅ かつ X=∅ のときだけ報告。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各極大クリークは順序で最初の点の外側でちょうど1回出る（論文 Theorem 1）。例 {1,2,5} は v=1 でだけ出る。</a:t>
            </a:r>
          </a:p>
          <a:p>
            <a:r>
              <a:rPr lang="ja-JP" dirty="0"/>
              <a:t>出典：arXiv:1006.5440、/workspace/sotsuken/worked/worked.txt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例グラフの極大クリークは {1,2,5},{2,3},{3,4},{4,5},{4,6} の5個。</a:t>
            </a:r>
          </a:p>
          <a:p>
            <a:r>
              <a:rPr lang="ja-JP" dirty="0"/>
              <a:t>出典：/workspace/sotsuken/bk-sample-graph.png、/workspace/sotsuken/worked/worked.txt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O(dn·3^{d/3}) の内訳：Lemma 6、Theorem 2、Theorem 3（下界 (n−d)3^{d/3}）。</a:t>
            </a:r>
          </a:p>
          <a:p>
            <a:r>
              <a:rPr lang="ja-JP" dirty="0"/>
              <a:t>出典：arXiv:1006.5440 https://arxiv.org/abs/1006.5440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縮退順序で後ろの隣接点は高々 d 個（例グラフで後ろの隣接 {4},{2,5},{3,5},{4},{5},∅）。</a:t>
            </a:r>
          </a:p>
          <a:p>
            <a:r>
              <a:rPr lang="ja-JP" dirty="0"/>
              <a:t>出典：/workspace/sotsuken/worked/worked.txt、arXiv:1006.5440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第1部の区切り：BK → Tomita → Eppstein。</a:t>
            </a:r>
          </a:p>
          <a:p>
            <a:r>
              <a:rPr lang="ja-JP" dirty="0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Tomita O(3^{n/3}) と Eppstein O(dn·3^{d/3}) の比較。n=300, d=6 は上界の式に値を入れた計算例で、実測ではない。</a:t>
            </a:r>
          </a:p>
          <a:p>
            <a:r>
              <a:rPr lang="ja-JP" dirty="0"/>
              <a:t>出典：arXiv:1006.5440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今日の流れ：BK → Tomita（ピボット）→ Eppstein（縮退）→ 並列化 → いまの状況。各パートが答える問いを1行ずつ。</a:t>
            </a:r>
          </a:p>
          <a:p>
            <a:r>
              <a:rPr lang="ja-JP"/>
              <a:t>例はすべて bk-sample-graph（辺 1-2,1-5,2-3,2-5,3-4,4-5,4-6）で手で追う。</a:t>
            </a:r>
          </a:p>
          <a:p>
            <a:r>
              <a:rPr lang="ja-JP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外側タスクごとの探索木の節点数（例グラフ、実測ではない）：6:2, 1:3, 2:2, 3:2, 4:2, 5:1。</a:t>
            </a:r>
          </a:p>
          <a:p>
            <a:r>
              <a:rPr lang="ja-JP" dirty="0"/>
              <a:t>出典：/workspace/sotsuken/worked/worked.txt、/workspace/sotsuken/slide-draft.md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まとめ：BK → Tomita → Eppstein → 外側独立で並列化、課題は負荷の偏り。本編の内容のみ。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Tomita の探索木：10 節点（BK は 15 節点）。各節点の R/P/X/u/分岐は worked.txt の Tomita トレースそのまま。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第2部の区切り：並列化。</a:t>
            </a:r>
          </a:p>
          <a:p>
            <a:r>
              <a:rPr lang="ja-JP" dirty="0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実装の方針：グラフは読み取り専用で共有、結果はタスクごと。</a:t>
            </a:r>
          </a:p>
          <a:p>
            <a:r>
              <a:rPr lang="ja-JP" dirty="0"/>
              <a:t>出典：/workspace/sotsuken/slide-draft.md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今後の計画：月は（未記入）。</a:t>
            </a:r>
          </a:p>
          <a:p>
            <a:r>
              <a:rPr lang="ja-JP" dirty="0"/>
              <a:t>出典：/workspace/sotsuken/slide-draft.md §21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補足の区切り（A–E）。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補足 A–C（B と C は本編 p.14、p.15 に移した）。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補足 D–E：旧デッキの見出しのまま。中身は未作成。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例グラフでの BK 探索木：15 節点、報告 5 つ。各節点の R/P/X は worked.txt の BK トレースそのまま。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報告しない葉 4 つ（R={1,5} X={2}／R={2,5} X={1}／R={5} X={1,2,4}／R={6} X={4}）。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ピボット付き BK。u は P∪X のうち |P∩N(u)| 最大（同点は小さい番号）。Tomita ら 2006 の選び方。</a:t>
            </a:r>
          </a:p>
          <a:p>
            <a:r>
              <a:rPr lang="ja-JP" dirty="0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外側ループの擬似コード。論文 §3 Fig. 4 BronKerboschDegeneracy と同じ形。</a:t>
            </a:r>
          </a:p>
          <a:p>
            <a:r>
              <a:rPr lang="ja-JP" dirty="0"/>
              <a:t>出典：arXiv:1006.5440 https://arxiv.org/abs/1006.5440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例グラフで各外側ループが出すもの（v / P / X / 出力）。</a:t>
            </a:r>
          </a:p>
          <a:p>
            <a:r>
              <a:rPr lang="ja-JP" dirty="0"/>
              <a:t>出典：/workspace/sotsuken/worked/worked.txt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重いタスクを内側で割る案（検討中）。例の状態は worked.txt の Tomita トレースと一致。</a:t>
            </a:r>
          </a:p>
          <a:p>
            <a:r>
              <a:rPr lang="ja-JP" dirty="0"/>
              <a:t>出典：/workspace/sotsuken/worked/worked.txt、/workspace/sotsuken/slide-draft.md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実験と結果：環境・データセット・結果は（未記入）。</a:t>
            </a:r>
          </a:p>
          <a:p>
            <a:r>
              <a:rPr lang="ja-JP" dirty="0"/>
              <a:t>出典：/workspace/sotsuken/seminar-outline.md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P コア／E コア問題：観測した現象は（未記入）。</a:t>
            </a:r>
          </a:p>
          <a:p>
            <a:r>
              <a:rPr lang="ja-JP" dirty="0"/>
              <a:t>出典：/workspace/sotsuken/slide-draft.md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Img1" Type="http://schemas.openxmlformats.org/officeDocument/2006/relationships/image" Target="../media/moon-moser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Img1" Type="http://schemas.openxmlformats.org/officeDocument/2006/relationships/image" Target="../media/bk-sample-graph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36853"/>
            <a:ext cx="5896051" cy="5521147"/>
          </a:xfrm>
          <a:custGeom>
            <a:avLst/>
            <a:gdLst/>
            <a:ahLst/>
            <a:cxnLst/>
            <a:rect l="l" t="t" r="r" b="b"/>
            <a:pathLst>
              <a:path w="5896051" h="5521147">
                <a:moveTo>
                  <a:pt x="0" y="0"/>
                </a:moveTo>
                <a:lnTo>
                  <a:pt x="35662" y="16459"/>
                </a:lnTo>
                <a:lnTo>
                  <a:pt x="5176418" y="2987345"/>
                </a:lnTo>
                <a:lnTo>
                  <a:pt x="5896051" y="4229100"/>
                </a:lnTo>
                <a:lnTo>
                  <a:pt x="5896051" y="5521147"/>
                </a:lnTo>
                <a:lnTo>
                  <a:pt x="0" y="5521147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3" name="Shape 1"/>
          <p:cNvSpPr/>
          <p:nvPr/>
        </p:nvSpPr>
        <p:spPr>
          <a:xfrm>
            <a:off x="7227418" y="0"/>
            <a:ext cx="4965192" cy="4919472"/>
          </a:xfrm>
          <a:custGeom>
            <a:avLst/>
            <a:gdLst/>
            <a:ahLst/>
            <a:cxnLst/>
            <a:rect l="l" t="t" r="r" b="b"/>
            <a:pathLst>
              <a:path w="4965192" h="4919472">
                <a:moveTo>
                  <a:pt x="0" y="0"/>
                </a:moveTo>
                <a:lnTo>
                  <a:pt x="4965192" y="0"/>
                </a:lnTo>
                <a:lnTo>
                  <a:pt x="4965192" y="4919472"/>
                </a:lnTo>
                <a:lnTo>
                  <a:pt x="715061" y="2469794"/>
                </a:lnTo>
                <a:lnTo>
                  <a:pt x="0" y="1225296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4" name="Shape 2"/>
          <p:cNvSpPr/>
          <p:nvPr/>
        </p:nvSpPr>
        <p:spPr>
          <a:xfrm>
            <a:off x="5422392" y="1111910"/>
            <a:ext cx="258775" cy="189280"/>
          </a:xfrm>
          <a:custGeom>
            <a:avLst/>
            <a:gdLst/>
            <a:ahLst/>
            <a:cxnLst/>
            <a:rect l="l" t="t" r="r" b="b"/>
            <a:pathLst>
              <a:path w="258775" h="189281">
                <a:moveTo>
                  <a:pt x="128930" y="0"/>
                </a:moveTo>
                <a:lnTo>
                  <a:pt x="258775" y="117043"/>
                </a:lnTo>
                <a:lnTo>
                  <a:pt x="258775" y="189281"/>
                </a:lnTo>
                <a:lnTo>
                  <a:pt x="0" y="189281"/>
                </a:lnTo>
                <a:lnTo>
                  <a:pt x="0" y="117043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733288" y="1022299"/>
            <a:ext cx="1097280" cy="369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ゼミ発表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1246" y="2536546"/>
            <a:ext cx="11449202" cy="1323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54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極大クリーク列挙の並列化</a:t>
            </a:r>
          </a:p>
        </p:txBody>
      </p:sp>
      <p:sp>
        <p:nvSpPr>
          <p:cNvPr id="7" name="Text 5"/>
          <p:cNvSpPr/>
          <p:nvPr/>
        </p:nvSpPr>
        <p:spPr>
          <a:xfrm>
            <a:off x="371246" y="3931920"/>
            <a:ext cx="114492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22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研究内容と、ここまでに学んだことの説明</a:t>
            </a:r>
          </a:p>
        </p:txBody>
      </p:sp>
      <p:sp>
        <p:nvSpPr>
          <p:cNvPr id="960" name="Text 5b"/>
          <p:cNvSpPr/>
          <p:nvPr/>
        </p:nvSpPr>
        <p:spPr>
          <a:xfrm>
            <a:off x="371246" y="4572000"/>
            <a:ext cx="1144920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所属（未記入）　｜　氏名（未記入）</a:t>
            </a:r>
          </a:p>
        </p:txBody>
      </p:sp>
      <p:sp>
        <p:nvSpPr>
          <p:cNvPr id="8" name="Shape 6"/>
          <p:cNvSpPr/>
          <p:nvPr/>
        </p:nvSpPr>
        <p:spPr>
          <a:xfrm>
            <a:off x="5090464" y="5410505"/>
            <a:ext cx="2011680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84648" y="5490058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0" name="Text 8"/>
          <p:cNvSpPr/>
          <p:nvPr/>
        </p:nvSpPr>
        <p:spPr>
          <a:xfrm>
            <a:off x="5449824" y="5460797"/>
            <a:ext cx="13716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日付（未記入）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8202" y="5126126"/>
            <a:ext cx="3863340" cy="1731874"/>
          </a:xfrm>
          <a:custGeom>
            <a:avLst/>
            <a:gdLst/>
            <a:ahLst/>
            <a:cxnLst/>
            <a:rect l="l" t="t" r="r" b="b"/>
            <a:pathLst>
              <a:path w="3863340" h="1731874">
                <a:moveTo>
                  <a:pt x="1931213" y="0"/>
                </a:moveTo>
                <a:lnTo>
                  <a:pt x="2140610" y="57607"/>
                </a:lnTo>
                <a:lnTo>
                  <a:pt x="3654857" y="928116"/>
                </a:lnTo>
                <a:lnTo>
                  <a:pt x="3863340" y="1143000"/>
                </a:lnTo>
                <a:lnTo>
                  <a:pt x="3863340" y="1731874"/>
                </a:lnTo>
                <a:lnTo>
                  <a:pt x="0" y="1731874"/>
                </a:lnTo>
                <a:lnTo>
                  <a:pt x="0" y="1143000"/>
                </a:lnTo>
                <a:lnTo>
                  <a:pt x="208483" y="928116"/>
                </a:lnTo>
                <a:lnTo>
                  <a:pt x="1722730" y="57607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5627218" y="1548079"/>
            <a:ext cx="3863340" cy="4330598"/>
          </a:xfrm>
          <a:custGeom>
            <a:avLst/>
            <a:gdLst/>
            <a:ahLst/>
            <a:cxnLst/>
            <a:rect l="l" t="t" r="r" b="b"/>
            <a:pathLst>
              <a:path w="3863340" h="4330598">
                <a:moveTo>
                  <a:pt x="1931213" y="0"/>
                </a:moveTo>
                <a:lnTo>
                  <a:pt x="2140610" y="56693"/>
                </a:lnTo>
                <a:lnTo>
                  <a:pt x="3654857" y="927202"/>
                </a:lnTo>
                <a:lnTo>
                  <a:pt x="3863340" y="1294790"/>
                </a:lnTo>
                <a:lnTo>
                  <a:pt x="3863340" y="3035808"/>
                </a:lnTo>
                <a:lnTo>
                  <a:pt x="3654857" y="3403397"/>
                </a:lnTo>
                <a:lnTo>
                  <a:pt x="2140610" y="4273906"/>
                </a:lnTo>
                <a:lnTo>
                  <a:pt x="1722730" y="4273906"/>
                </a:lnTo>
                <a:lnTo>
                  <a:pt x="208483" y="3403397"/>
                </a:lnTo>
                <a:lnTo>
                  <a:pt x="0" y="3035808"/>
                </a:lnTo>
                <a:lnTo>
                  <a:pt x="0" y="1294790"/>
                </a:lnTo>
                <a:lnTo>
                  <a:pt x="208483" y="927202"/>
                </a:lnTo>
                <a:lnTo>
                  <a:pt x="1722730" y="56693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Shape 4"/>
          <p:cNvSpPr/>
          <p:nvPr/>
        </p:nvSpPr>
        <p:spPr>
          <a:xfrm>
            <a:off x="7805318" y="0"/>
            <a:ext cx="3863340" cy="2300630"/>
          </a:xfrm>
          <a:custGeom>
            <a:avLst/>
            <a:gdLst/>
            <a:ahLst/>
            <a:cxnLst/>
            <a:rect l="l" t="t" r="r" b="b"/>
            <a:pathLst>
              <a:path w="3863340" h="2300630">
                <a:moveTo>
                  <a:pt x="0" y="0"/>
                </a:moveTo>
                <a:lnTo>
                  <a:pt x="3863340" y="0"/>
                </a:lnTo>
                <a:lnTo>
                  <a:pt x="3863340" y="1007669"/>
                </a:lnTo>
                <a:lnTo>
                  <a:pt x="3654857" y="1371600"/>
                </a:lnTo>
                <a:lnTo>
                  <a:pt x="2140610" y="2245766"/>
                </a:lnTo>
                <a:lnTo>
                  <a:pt x="1722730" y="2245766"/>
                </a:lnTo>
                <a:lnTo>
                  <a:pt x="208483" y="1371600"/>
                </a:lnTo>
                <a:lnTo>
                  <a:pt x="0" y="1007669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89127" y="117409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2396" y="125364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8311" y="122438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動機</a:t>
            </a:r>
          </a:p>
        </p:txBody>
      </p:sp>
      <p:sp>
        <p:nvSpPr>
          <p:cNvPr id="19" name="Text 17"/>
          <p:cNvSpPr/>
          <p:nvPr/>
        </p:nvSpPr>
        <p:spPr>
          <a:xfrm>
            <a:off x="756208" y="16459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なぜ極大クリークを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全部列挙したいのか</a:t>
            </a:r>
          </a:p>
        </p:txBody>
      </p:sp>
      <p:sp>
        <p:nvSpPr>
          <p:cNvPr id="20" name="Text 18"/>
          <p:cNvSpPr/>
          <p:nvPr/>
        </p:nvSpPr>
        <p:spPr>
          <a:xfrm>
            <a:off x="775411" y="30632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大きいグラフの中の「まとまり」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（極大クリーク）を、全部見つけたい</a:t>
            </a:r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単純な全探索は現実的でない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賢い列挙のしかたが必要</a:t>
            </a:r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速い逐次の方法があっても、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大規模になると並列化したい</a:t>
            </a:r>
          </a:p>
        </p:txBody>
      </p:sp>
      <p:sp>
        <p:nvSpPr>
          <p:cNvPr id="25" name="Text 23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8950" y="3291840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4309567" y="799186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Text 4"/>
          <p:cNvSpPr/>
          <p:nvPr/>
        </p:nvSpPr>
        <p:spPr>
          <a:xfrm>
            <a:off x="756208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極大と最大は違う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1294790"/>
            <a:ext cx="1119225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1374343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1345082"/>
            <a:ext cx="844905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26974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クリーク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：どの2点も辺でつながっている集まり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：もう1点も足せないクリーク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：サイズがいちばん大きいクリーク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例：{1,2} はクリークだが極大ではない</a:t>
            </a:r>
            <a:br>
              <a:rPr lang="ja-JP" sz="17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7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（5 を足すと {1,2,5} になる）</a:t>
            </a:r>
          </a:p>
        </p:txBody>
      </p:sp>
      <p:sp>
        <p:nvSpPr>
          <p:cNvPr id="15" name="Shape 13"/>
          <p:cNvSpPr/>
          <p:nvPr/>
        </p:nvSpPr>
        <p:spPr>
          <a:xfrm>
            <a:off x="6512357" y="1235354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7651" y="1215237"/>
            <a:ext cx="448056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{1,2,5}：極大かつ最大</a:t>
            </a:r>
          </a:p>
        </p:txBody>
      </p:sp>
      <p:sp>
        <p:nvSpPr>
          <p:cNvPr id="24" name="Text 22"/>
          <p:cNvSpPr/>
          <p:nvPr/>
        </p:nvSpPr>
        <p:spPr>
          <a:xfrm>
            <a:off x="7283196" y="1810512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1-2, 1-5, 2-5 がすべて辺。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どの点を足しても辺が欠ける。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サイズ 3 はこのグラフで最大</a:t>
            </a:r>
          </a:p>
        </p:txBody>
      </p:sp>
      <p:sp>
        <p:nvSpPr>
          <p:cNvPr id="25" name="Shape 23"/>
          <p:cNvSpPr/>
          <p:nvPr/>
        </p:nvSpPr>
        <p:spPr>
          <a:xfrm>
            <a:off x="7513625" y="3728009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69833" y="3707891"/>
            <a:ext cx="365760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{4,6}：極大だが最大でない</a:t>
            </a:r>
          </a:p>
        </p:txBody>
      </p:sp>
      <p:sp>
        <p:nvSpPr>
          <p:cNvPr id="32" name="Text 30"/>
          <p:cNvSpPr/>
          <p:nvPr/>
        </p:nvSpPr>
        <p:spPr>
          <a:xfrm>
            <a:off x="8285378" y="4297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の隣は 4 だけ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もう足せない（極大）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でもサイズは 2（最大ではない）</a:t>
            </a:r>
          </a:p>
        </p:txBody>
      </p:sp>
      <p:sp>
        <p:nvSpPr>
          <p:cNvPr id="980" name="Edges caption"/>
          <p:cNvSpPr/>
          <p:nvPr/>
        </p:nvSpPr>
        <p:spPr>
          <a:xfrm>
            <a:off x="795528" y="5669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例グラフの辺：1-2, 1-5, 2-3, 2-5, 3-4, 4-5, 4-6</a:t>
            </a:r>
          </a:p>
        </p:txBody>
      </p:sp>
      <p:sp>
        <p:nvSpPr>
          <p:cNvPr id="33" name="Text 3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6208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最悪 O(3</a:t>
            </a:r>
            <a:r>
              <a:rPr lang="ja-JP" sz="3400" dirty="0" b="1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 は最適</a:t>
            </a:r>
          </a:p>
        </p:txBody>
      </p:sp>
      <p:sp>
        <p:nvSpPr>
          <p:cNvPr id="5" name="Shape 3"/>
          <p:cNvSpPr/>
          <p:nvPr/>
        </p:nvSpPr>
        <p:spPr>
          <a:xfrm>
            <a:off x="789127" y="1294790"/>
            <a:ext cx="1119225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74343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1345082"/>
            <a:ext cx="844905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計算量</a:t>
            </a:r>
          </a:p>
        </p:txBody>
      </p:sp>
      <p:sp>
        <p:nvSpPr>
          <p:cNvPr id="8" name="Text 6"/>
          <p:cNvSpPr/>
          <p:nvPr/>
        </p:nvSpPr>
        <p:spPr>
          <a:xfrm>
            <a:off x="779983" y="2788920"/>
            <a:ext cx="5257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頂点のグラフの極大クリークは</a:t>
            </a:r>
            <a:b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 3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個（Moon–Moser）</a:t>
            </a:r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最悪例：3 点ずつのグループに分け、</a:t>
            </a:r>
            <a:b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違うグループ間を全部つなぐ</a:t>
            </a:r>
            <a:b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各グループから1点ずつ選ぶので 3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個</a:t>
            </a:r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 点ずつなら k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n/k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(k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1/k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</a:t>
            </a:r>
            <a:b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</a:t>
            </a:r>
            <a:r>
              <a:rPr lang="ja-JP" sz="15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1/k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は k=3 で最大（右下）</a:t>
            </a:r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 のピボット BK は最悪 O(3</a:t>
            </a:r>
            <a:r>
              <a:rPr lang="ja-JP" sz="1500" dirty="0" baseline="3000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b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出力数の最悪に揃う（最適）</a:t>
            </a:r>
          </a:p>
        </p:txBody>
      </p:sp>
      <p:sp>
        <p:nvSpPr>
          <p:cNvPr id="1490" name="k table"/>
          <p:cNvSpPr/>
          <p:nvPr/>
        </p:nvSpPr>
        <p:spPr>
          <a:xfrm>
            <a:off x="6355080" y="4937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k=2：2</a:t>
            </a:r>
            <a:r>
              <a:rPr lang="ja-JP" sz="1400" dirty="0" baseline="3000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1/2</a:t>
            </a: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≈1.414</a:t>
            </a: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</a:t>
            </a:r>
            <a:r>
              <a:rPr lang="ja-JP" sz="14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k=3：3</a:t>
            </a:r>
            <a:r>
              <a:rPr lang="ja-JP" sz="1400" dirty="0" baseline="3000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1/3</a:t>
            </a:r>
            <a:r>
              <a:rPr lang="ja-JP" sz="14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≈1.442</a:t>
            </a: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</a:t>
            </a: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k=4：4</a:t>
            </a:r>
            <a:r>
              <a:rPr lang="ja-JP" sz="1400" dirty="0" baseline="3000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1/4</a:t>
            </a: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≈1.414</a:t>
            </a:r>
          </a:p>
        </p:txBody>
      </p:sp>
      <p:sp>
        <p:nvSpPr>
          <p:cNvPr id="17" name="Text 15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</a:p>
        </p:txBody>
      </p:sp>
      <p:pic>
        <p:nvPicPr>
          <p:cNvPr id="900" name="Figure Moon–Moser 図" descr="Moon–Moser 図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355080" y="1280160"/>
            <a:ext cx="5394960" cy="353124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70632" y="3845966"/>
            <a:ext cx="4466844" cy="3012034"/>
          </a:xfrm>
          <a:custGeom>
            <a:avLst/>
            <a:gdLst/>
            <a:ahLst/>
            <a:cxnLst/>
            <a:rect l="l" t="t" r="r" b="b"/>
            <a:pathLst>
              <a:path w="4466844" h="3012034">
                <a:moveTo>
                  <a:pt x="2232965" y="0"/>
                </a:moveTo>
                <a:lnTo>
                  <a:pt x="2474366" y="99670"/>
                </a:lnTo>
                <a:lnTo>
                  <a:pt x="4225442" y="1614830"/>
                </a:lnTo>
                <a:lnTo>
                  <a:pt x="4466844" y="1987906"/>
                </a:lnTo>
                <a:lnTo>
                  <a:pt x="4466844" y="3012034"/>
                </a:lnTo>
                <a:lnTo>
                  <a:pt x="0" y="3012034"/>
                </a:lnTo>
                <a:lnTo>
                  <a:pt x="0" y="1987906"/>
                </a:lnTo>
                <a:lnTo>
                  <a:pt x="241402" y="1614830"/>
                </a:lnTo>
                <a:lnTo>
                  <a:pt x="1992478" y="99670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04511" cy="4709160"/>
          </a:xfrm>
          <a:custGeom>
            <a:avLst/>
            <a:gdLst/>
            <a:ahLst/>
            <a:cxnLst/>
            <a:rect l="l" t="t" r="r" b="b"/>
            <a:pathLst>
              <a:path w="5004511" h="4709160">
                <a:moveTo>
                  <a:pt x="0" y="0"/>
                </a:moveTo>
                <a:lnTo>
                  <a:pt x="4999939" y="0"/>
                </a:lnTo>
                <a:lnTo>
                  <a:pt x="5004511" y="70409"/>
                </a:lnTo>
                <a:lnTo>
                  <a:pt x="5004511" y="2735885"/>
                </a:lnTo>
                <a:lnTo>
                  <a:pt x="4684471" y="3291840"/>
                </a:lnTo>
                <a:lnTo>
                  <a:pt x="2377440" y="4624121"/>
                </a:lnTo>
                <a:lnTo>
                  <a:pt x="1731874" y="4624121"/>
                </a:lnTo>
                <a:lnTo>
                  <a:pt x="0" y="3621024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6" name="Text 4"/>
          <p:cNvSpPr/>
          <p:nvPr/>
        </p:nvSpPr>
        <p:spPr>
          <a:xfrm>
            <a:off x="5796381" y="1591056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縮退：次数の小さい点から剥がす</a:t>
            </a:r>
          </a:p>
        </p:txBody>
      </p:sp>
      <p:sp>
        <p:nvSpPr>
          <p:cNvPr id="7" name="Shape 5"/>
          <p:cNvSpPr/>
          <p:nvPr/>
        </p:nvSpPr>
        <p:spPr>
          <a:xfrm>
            <a:off x="5829300" y="1057046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22569" y="1136599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6158484" y="1107338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Eppstein</a:t>
            </a:r>
          </a:p>
        </p:txBody>
      </p:sp>
      <p:sp>
        <p:nvSpPr>
          <p:cNvPr id="10" name="Text 8"/>
          <p:cNvSpPr/>
          <p:nvPr/>
        </p:nvSpPr>
        <p:spPr>
          <a:xfrm>
            <a:off x="5816498" y="24231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残っているグラフで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次数最小の点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を取り除く、を繰り返す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取り除く瞬間の次数の最大値 ＝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縮退数 d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「どの部分グラフにも次数 d 以下の点がいる」</a:t>
            </a:r>
            <a:b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最小の d と同じ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疎なグラフでは d は n よりずっと小さいことが多い</a:t>
            </a:r>
            <a:b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（Eppstein, Löffler, Strash 2010 の前提）</a:t>
            </a:r>
          </a:p>
        </p:txBody>
      </p:sp>
      <p:sp>
        <p:nvSpPr>
          <p:cNvPr id="15" name="Text 13"/>
          <p:cNvSpPr/>
          <p:nvPr/>
        </p:nvSpPr>
        <p:spPr>
          <a:xfrm>
            <a:off x="5816498" y="4892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60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</a:t>
            </a:r>
          </a:p>
        </p:txBody>
      </p:sp>
      <p:sp>
        <p:nvSpPr>
          <p:cNvPr id="16" name="Text 14"/>
          <p:cNvSpPr/>
          <p:nvPr/>
        </p:nvSpPr>
        <p:spPr>
          <a:xfrm>
            <a:off x="6720840" y="5138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縮退数（次のスライドの例グラフでは d = 2）</a:t>
            </a:r>
          </a:p>
        </p:txBody>
      </p:sp>
      <p:sp>
        <p:nvSpPr>
          <p:cNvPr id="17" name="Text 15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8838" y="0"/>
            <a:ext cx="5033772" cy="4152290"/>
          </a:xfrm>
          <a:custGeom>
            <a:avLst/>
            <a:gdLst/>
            <a:ahLst/>
            <a:cxnLst/>
            <a:rect l="l" t="t" r="r" b="b"/>
            <a:pathLst>
              <a:path w="5033772" h="4152290">
                <a:moveTo>
                  <a:pt x="0" y="0"/>
                </a:moveTo>
                <a:lnTo>
                  <a:pt x="5033772" y="0"/>
                </a:lnTo>
                <a:lnTo>
                  <a:pt x="5033772" y="3396996"/>
                </a:lnTo>
                <a:lnTo>
                  <a:pt x="3900830" y="4048049"/>
                </a:lnTo>
                <a:lnTo>
                  <a:pt x="3130906" y="4048049"/>
                </a:lnTo>
                <a:lnTo>
                  <a:pt x="382219" y="2462479"/>
                </a:lnTo>
                <a:lnTo>
                  <a:pt x="0" y="1797710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194706" y="508406"/>
            <a:ext cx="5549494" cy="6349594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4" name="Text 2"/>
          <p:cNvSpPr/>
          <p:nvPr/>
        </p:nvSpPr>
        <p:spPr>
          <a:xfrm>
            <a:off x="5532120" y="822960"/>
            <a:ext cx="50292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BK(R, P, X):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if P = ∅ and X = ∅: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report R      // 極大クリーク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return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for v in P: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BK(R ∪ {v}, P ∩ N(v), X ∩ N(v))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P ← P \ {v}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X ← X ∪ {v}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最初の呼び出し: BK(∅, V, ∅)</a:t>
            </a:r>
          </a:p>
        </p:txBody>
      </p:sp>
      <p:sp>
        <p:nvSpPr>
          <p:cNvPr id="5" name="Shape 3"/>
          <p:cNvSpPr/>
          <p:nvPr/>
        </p:nvSpPr>
        <p:spPr>
          <a:xfrm>
            <a:off x="789127" y="1040587"/>
            <a:ext cx="1325880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120140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1090879"/>
            <a:ext cx="109728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擬似コード</a:t>
            </a:r>
          </a:p>
        </p:txBody>
      </p:sp>
      <p:sp>
        <p:nvSpPr>
          <p:cNvPr id="8" name="Text 6"/>
          <p:cNvSpPr/>
          <p:nvPr/>
        </p:nvSpPr>
        <p:spPr>
          <a:xfrm>
            <a:off x="756209" y="157276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 の</a:t>
            </a:r>
          </a:p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擬似コード</a:t>
            </a:r>
          </a:p>
        </p:txBody>
      </p:sp>
      <p:sp>
        <p:nvSpPr>
          <p:cNvPr id="9" name="Text 7"/>
          <p:cNvSpPr/>
          <p:nvPr/>
        </p:nvSpPr>
        <p:spPr>
          <a:xfrm>
            <a:off x="776325" y="3429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</a:t>
            </a:r>
          </a:p>
        </p:txBody>
      </p:sp>
      <p:sp>
        <p:nvSpPr>
          <p:cNvPr id="10" name="Text 8"/>
          <p:cNvSpPr/>
          <p:nvPr/>
        </p:nvSpPr>
        <p:spPr>
          <a:xfrm>
            <a:off x="776325" y="388620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∩N(v)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で「v とも隣接する点だけ」に絞る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調べ終えた v は </a:t>
            </a: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へ移す → 同じクリークを二度出さない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P=∅ かつ X=∅ のときだけ報告</a:t>
            </a:r>
          </a:p>
        </p:txBody>
      </p:sp>
      <p:sp>
        <p:nvSpPr>
          <p:cNvPr id="19" name="Text 17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046" y="2708453"/>
            <a:ext cx="3192170" cy="3578047"/>
          </a:xfrm>
          <a:custGeom>
            <a:avLst/>
            <a:gdLst/>
            <a:ahLst/>
            <a:cxnLst/>
            <a:rect l="l" t="t" r="r" b="b"/>
            <a:pathLst>
              <a:path w="3192170" h="3578047">
                <a:moveTo>
                  <a:pt x="1596542" y="0"/>
                </a:moveTo>
                <a:lnTo>
                  <a:pt x="1768450" y="46634"/>
                </a:lnTo>
                <a:lnTo>
                  <a:pt x="3019349" y="765353"/>
                </a:lnTo>
                <a:lnTo>
                  <a:pt x="3192170" y="1069848"/>
                </a:lnTo>
                <a:lnTo>
                  <a:pt x="3192170" y="2508199"/>
                </a:lnTo>
                <a:lnTo>
                  <a:pt x="3019349" y="2812694"/>
                </a:lnTo>
                <a:lnTo>
                  <a:pt x="1768450" y="3531413"/>
                </a:lnTo>
                <a:lnTo>
                  <a:pt x="1423721" y="3531413"/>
                </a:lnTo>
                <a:lnTo>
                  <a:pt x="172822" y="2812694"/>
                </a:lnTo>
                <a:lnTo>
                  <a:pt x="0" y="2508199"/>
                </a:lnTo>
                <a:lnTo>
                  <a:pt x="0" y="1069848"/>
                </a:lnTo>
                <a:lnTo>
                  <a:pt x="172822" y="765353"/>
                </a:lnTo>
                <a:lnTo>
                  <a:pt x="1423721" y="46634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1200" name="Pivot example"/>
          <p:cNvSpPr/>
          <p:nvPr/>
        </p:nvSpPr>
        <p:spPr>
          <a:xfrm>
            <a:off x="6537045" y="2708452"/>
            <a:ext cx="3192170" cy="3578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例：Tomita の根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P={1,…,6}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u=2, N(2)={1,3,5}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分岐は {2,4,6} だけ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（6 点すべてではない）</a:t>
            </a:r>
          </a:p>
        </p:txBody>
      </p:sp>
      <p:sp>
        <p:nvSpPr>
          <p:cNvPr id="4" name="Shape 2"/>
          <p:cNvSpPr/>
          <p:nvPr/>
        </p:nvSpPr>
        <p:spPr>
          <a:xfrm>
            <a:off x="7978140" y="0"/>
            <a:ext cx="4213555" cy="3498494"/>
          </a:xfrm>
          <a:custGeom>
            <a:avLst/>
            <a:gdLst/>
            <a:ahLst/>
            <a:cxnLst/>
            <a:rect l="l" t="t" r="r" b="b"/>
            <a:pathLst>
              <a:path w="4213555" h="3498494">
                <a:moveTo>
                  <a:pt x="0" y="0"/>
                </a:moveTo>
                <a:lnTo>
                  <a:pt x="4213555" y="0"/>
                </a:lnTo>
                <a:lnTo>
                  <a:pt x="4213555" y="2435047"/>
                </a:lnTo>
                <a:lnTo>
                  <a:pt x="2486254" y="3431743"/>
                </a:lnTo>
                <a:lnTo>
                  <a:pt x="1997050" y="3431743"/>
                </a:lnTo>
                <a:lnTo>
                  <a:pt x="244145" y="2421331"/>
                </a:lnTo>
                <a:lnTo>
                  <a:pt x="0" y="1997964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6" name="Text 4"/>
          <p:cNvSpPr/>
          <p:nvPr/>
        </p:nvSpPr>
        <p:spPr>
          <a:xfrm>
            <a:off x="755294" y="157825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ピボットの考え方</a:t>
            </a:r>
          </a:p>
        </p:txBody>
      </p:sp>
      <p:sp>
        <p:nvSpPr>
          <p:cNvPr id="7" name="Shape 5"/>
          <p:cNvSpPr/>
          <p:nvPr/>
        </p:nvSpPr>
        <p:spPr>
          <a:xfrm>
            <a:off x="788213" y="104333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1482" y="1122883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7397" y="109362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</a:t>
            </a:r>
          </a:p>
        </p:txBody>
      </p:sp>
      <p:sp>
        <p:nvSpPr>
          <p:cNvPr id="10" name="Text 8"/>
          <p:cNvSpPr/>
          <p:nvPr/>
        </p:nvSpPr>
        <p:spPr>
          <a:xfrm>
            <a:off x="779983" y="260604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2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P∪X から点 u を1つ選ぶ（ピボット）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を含む極大クリークは、u 自身か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 と隣接しない点を必ず含む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（そうでなければ u を足せる）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2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分岐は </a:t>
            </a:r>
            <a:r>
              <a:rPr lang="ja-JP" sz="2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P∖N(u)</a:t>
            </a:r>
            <a:r>
              <a:rPr lang="ja-JP" sz="2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だけでよい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 の隣の点は、u と一緒に後で出てくる</a:t>
            </a:r>
          </a:p>
        </p:txBody>
      </p:sp>
      <p:sp>
        <p:nvSpPr>
          <p:cNvPr id="19" name="Text 17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4624" y="-1554480"/>
            <a:ext cx="2606040" cy="6528816"/>
          </a:xfrm>
          <a:prstGeom prst="roundRect">
            <a:avLst>
              <a:gd name="adj" fmla="val 12632"/>
            </a:avLst>
          </a:prstGeom>
          <a:solidFill>
            <a:srgbClr val="DCE7FC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1472184"/>
            <a:ext cx="2441448" cy="6364224"/>
          </a:xfrm>
          <a:prstGeom prst="roundRect">
            <a:avLst>
              <a:gd name="adj" fmla="val 10861"/>
            </a:avLst>
          </a:prstGeom>
          <a:solidFill>
            <a:srgbClr val="E8F0FD"/>
          </a:solidFill>
          <a:ln/>
        </p:spPr>
      </p:sp>
      <p:sp>
        <p:nvSpPr>
          <p:cNvPr id="6" name="Shape 4"/>
          <p:cNvSpPr/>
          <p:nvPr/>
        </p:nvSpPr>
        <p:spPr>
          <a:xfrm>
            <a:off x="6044184" y="1609344"/>
            <a:ext cx="2999232" cy="5943600"/>
          </a:xfrm>
          <a:prstGeom prst="roundRect">
            <a:avLst>
              <a:gd name="adj" fmla="val 10976"/>
            </a:avLst>
          </a:prstGeom>
          <a:solidFill>
            <a:srgbClr val="DCE7FC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691640"/>
            <a:ext cx="2834640" cy="5779008"/>
          </a:xfrm>
          <a:prstGeom prst="roundRect">
            <a:avLst>
              <a:gd name="adj" fmla="val 9355"/>
            </a:avLst>
          </a:prstGeom>
          <a:solidFill>
            <a:srgbClr val="E8F0F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74519"/>
            <a:ext cx="25603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 6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{1,2,3,4,5,6}</a:t>
            </a:r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 1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{1,2,3,4,5}</a:t>
            </a:r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 2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{2,3,4,5}</a:t>
            </a:r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 3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{3,4,5}</a:t>
            </a:r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 4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{4,5}</a:t>
            </a:r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ja-JP" sz="17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6.  5 を除く</a:t>
            </a: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次数 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b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除く前 {5}</a:t>
            </a:r>
          </a:p>
        </p:txBody>
      </p:sp>
      <p:sp>
        <p:nvSpPr>
          <p:cNvPr id="10" name="Text 8"/>
          <p:cNvSpPr/>
          <p:nvPr/>
        </p:nvSpPr>
        <p:spPr>
          <a:xfrm>
            <a:off x="756209" y="161483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例グラフで剥がす</a:t>
            </a:r>
          </a:p>
        </p:txBody>
      </p:sp>
      <p:sp>
        <p:nvSpPr>
          <p:cNvPr id="11" name="Shape 9"/>
          <p:cNvSpPr/>
          <p:nvPr/>
        </p:nvSpPr>
        <p:spPr>
          <a:xfrm>
            <a:off x="789127" y="1080821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2396" y="116037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8311" y="1131113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</a:t>
            </a:r>
          </a:p>
        </p:txBody>
      </p:sp>
      <p:sp>
        <p:nvSpPr>
          <p:cNvPr id="15" name="Text 13"/>
          <p:cNvSpPr/>
          <p:nvPr/>
        </p:nvSpPr>
        <p:spPr>
          <a:xfrm>
            <a:off x="776325" y="26517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毎回、残りのグラフで次数最小の点を取り除く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16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同じ次数なら番号の小さい点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順序 6, 1, 2, 3, 4, 5</a:t>
            </a:r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 = max(1,2,2,1,1,0) = </a:t>
            </a:r>
            <a:r>
              <a:rPr lang="ja-JP" sz="2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</a:p>
        </p:txBody>
      </p:sp>
      <p:sp>
        <p:nvSpPr>
          <p:cNvPr id="22" name="Shape 20"/>
          <p:cNvSpPr/>
          <p:nvPr/>
        </p:nvSpPr>
        <p:spPr>
          <a:xfrm>
            <a:off x="10022738" y="4202582"/>
            <a:ext cx="1369771" cy="1535278"/>
          </a:xfrm>
          <a:custGeom>
            <a:avLst/>
            <a:gdLst/>
            <a:ahLst/>
            <a:cxnLst/>
            <a:rect l="l" t="t" r="r" b="b"/>
            <a:pathLst>
              <a:path w="1369771" h="1535278">
                <a:moveTo>
                  <a:pt x="684886" y="0"/>
                </a:moveTo>
                <a:lnTo>
                  <a:pt x="758952" y="20117"/>
                </a:lnTo>
                <a:lnTo>
                  <a:pt x="1295705" y="328270"/>
                </a:lnTo>
                <a:lnTo>
                  <a:pt x="1369771" y="459029"/>
                </a:lnTo>
                <a:lnTo>
                  <a:pt x="1369771" y="1076249"/>
                </a:lnTo>
                <a:lnTo>
                  <a:pt x="1295705" y="1207008"/>
                </a:lnTo>
                <a:lnTo>
                  <a:pt x="758952" y="1515161"/>
                </a:lnTo>
                <a:lnTo>
                  <a:pt x="610819" y="1515161"/>
                </a:lnTo>
                <a:lnTo>
                  <a:pt x="74066" y="1207008"/>
                </a:lnTo>
                <a:lnTo>
                  <a:pt x="0" y="1076249"/>
                </a:lnTo>
                <a:lnTo>
                  <a:pt x="0" y="459029"/>
                </a:lnTo>
                <a:lnTo>
                  <a:pt x="74066" y="328270"/>
                </a:lnTo>
                <a:lnTo>
                  <a:pt x="610819" y="20117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22738" y="4708246"/>
            <a:ext cx="1369771" cy="4513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2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 = 2</a:t>
            </a:r>
          </a:p>
        </p:txBody>
      </p:sp>
      <p:sp>
        <p:nvSpPr>
          <p:cNvPr id="24" name="Text 22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29707" y="443941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8425282" y="-772668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6" name="Shape 4"/>
          <p:cNvSpPr/>
          <p:nvPr/>
        </p:nvSpPr>
        <p:spPr>
          <a:xfrm>
            <a:off x="6923837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990" name="Orders in hex"/>
          <p:cNvSpPr/>
          <p:nvPr/>
        </p:nvSpPr>
        <p:spPr>
          <a:xfrm>
            <a:off x="6923836" y="1833372"/>
            <a:ext cx="2846527" cy="3150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 への順番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1→2→5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1→5→2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2→1→5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2→5→1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5→1→2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5→2→1</a:t>
            </a:r>
          </a:p>
        </p:txBody>
      </p:sp>
      <p:sp>
        <p:nvSpPr>
          <p:cNvPr id="8" name="Shape 6"/>
          <p:cNvSpPr/>
          <p:nvPr/>
        </p:nvSpPr>
        <p:spPr>
          <a:xfrm>
            <a:off x="9919411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56208" y="157276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1点ずつ伸ばすと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重複が出る</a:t>
            </a:r>
          </a:p>
        </p:txBody>
      </p:sp>
      <p:sp>
        <p:nvSpPr>
          <p:cNvPr id="21" name="Shape 19"/>
          <p:cNvSpPr/>
          <p:nvPr/>
        </p:nvSpPr>
        <p:spPr>
          <a:xfrm>
            <a:off x="789127" y="1078992"/>
            <a:ext cx="1371600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2396" y="11585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" y="1129284"/>
            <a:ext cx="1097280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素朴な発想</a:t>
            </a:r>
          </a:p>
        </p:txBody>
      </p:sp>
      <p:sp>
        <p:nvSpPr>
          <p:cNvPr id="24" name="Text 22"/>
          <p:cNvSpPr/>
          <p:nvPr/>
        </p:nvSpPr>
        <p:spPr>
          <a:xfrm>
            <a:off x="779983" y="30175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発想：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1点から始め、今までの全点と隣接する点を1つずつ足す。足せなくなったら極大</a:t>
            </a:r>
          </a:p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問題：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 は足す順番が違うだけで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3! = 6 回出てくる（右）</a:t>
            </a:r>
          </a:p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使った点を覚えておくルールが必要</a:t>
            </a:r>
            <a:b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＝ BK の P と X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7998" y="4135831"/>
            <a:ext cx="1877263" cy="2104034"/>
          </a:xfrm>
          <a:custGeom>
            <a:avLst/>
            <a:gdLst/>
            <a:ahLst/>
            <a:cxnLst/>
            <a:rect l="l" t="t" r="r" b="b"/>
            <a:pathLst>
              <a:path w="1877263" h="2104034">
                <a:moveTo>
                  <a:pt x="938174" y="0"/>
                </a:moveTo>
                <a:lnTo>
                  <a:pt x="1039673" y="27432"/>
                </a:lnTo>
                <a:lnTo>
                  <a:pt x="1775765" y="449885"/>
                </a:lnTo>
                <a:lnTo>
                  <a:pt x="1877263" y="629107"/>
                </a:lnTo>
                <a:lnTo>
                  <a:pt x="1877263" y="1474927"/>
                </a:lnTo>
                <a:lnTo>
                  <a:pt x="1775765" y="1654150"/>
                </a:lnTo>
                <a:lnTo>
                  <a:pt x="1039673" y="2076602"/>
                </a:lnTo>
                <a:lnTo>
                  <a:pt x="837590" y="2076602"/>
                </a:lnTo>
                <a:lnTo>
                  <a:pt x="101498" y="1654150"/>
                </a:lnTo>
                <a:lnTo>
                  <a:pt x="0" y="1474927"/>
                </a:lnTo>
                <a:lnTo>
                  <a:pt x="0" y="629107"/>
                </a:lnTo>
                <a:lnTo>
                  <a:pt x="101498" y="449885"/>
                </a:lnTo>
                <a:lnTo>
                  <a:pt x="837590" y="27432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7413955" y="2369210"/>
            <a:ext cx="1877263" cy="2104034"/>
          </a:xfrm>
          <a:custGeom>
            <a:avLst/>
            <a:gdLst/>
            <a:ahLst/>
            <a:cxnLst/>
            <a:rect l="l" t="t" r="r" b="b"/>
            <a:pathLst>
              <a:path w="1877263" h="2104034">
                <a:moveTo>
                  <a:pt x="938174" y="0"/>
                </a:moveTo>
                <a:lnTo>
                  <a:pt x="1039673" y="27432"/>
                </a:lnTo>
                <a:lnTo>
                  <a:pt x="1775765" y="449885"/>
                </a:lnTo>
                <a:lnTo>
                  <a:pt x="1877263" y="629107"/>
                </a:lnTo>
                <a:lnTo>
                  <a:pt x="1877263" y="1474927"/>
                </a:lnTo>
                <a:lnTo>
                  <a:pt x="1775765" y="1654150"/>
                </a:lnTo>
                <a:lnTo>
                  <a:pt x="1039673" y="2076602"/>
                </a:lnTo>
                <a:lnTo>
                  <a:pt x="837590" y="2076602"/>
                </a:lnTo>
                <a:lnTo>
                  <a:pt x="101498" y="1654150"/>
                </a:lnTo>
                <a:lnTo>
                  <a:pt x="0" y="1474927"/>
                </a:lnTo>
                <a:lnTo>
                  <a:pt x="0" y="629107"/>
                </a:lnTo>
                <a:lnTo>
                  <a:pt x="101498" y="449885"/>
                </a:lnTo>
                <a:lnTo>
                  <a:pt x="837590" y="27432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Shape 4"/>
          <p:cNvSpPr/>
          <p:nvPr/>
        </p:nvSpPr>
        <p:spPr>
          <a:xfrm>
            <a:off x="6387998" y="617220"/>
            <a:ext cx="1877263" cy="2104034"/>
          </a:xfrm>
          <a:custGeom>
            <a:avLst/>
            <a:gdLst/>
            <a:ahLst/>
            <a:cxnLst/>
            <a:rect l="l" t="t" r="r" b="b"/>
            <a:pathLst>
              <a:path w="1877263" h="2104034">
                <a:moveTo>
                  <a:pt x="938174" y="0"/>
                </a:moveTo>
                <a:lnTo>
                  <a:pt x="1039673" y="27432"/>
                </a:lnTo>
                <a:lnTo>
                  <a:pt x="1775765" y="449885"/>
                </a:lnTo>
                <a:lnTo>
                  <a:pt x="1877263" y="629107"/>
                </a:lnTo>
                <a:lnTo>
                  <a:pt x="1877263" y="1474927"/>
                </a:lnTo>
                <a:lnTo>
                  <a:pt x="1775765" y="1654150"/>
                </a:lnTo>
                <a:lnTo>
                  <a:pt x="1039673" y="2076602"/>
                </a:lnTo>
                <a:lnTo>
                  <a:pt x="837590" y="2076602"/>
                </a:lnTo>
                <a:lnTo>
                  <a:pt x="101498" y="1654150"/>
                </a:lnTo>
                <a:lnTo>
                  <a:pt x="0" y="1474927"/>
                </a:lnTo>
                <a:lnTo>
                  <a:pt x="0" y="629107"/>
                </a:lnTo>
                <a:lnTo>
                  <a:pt x="101498" y="449885"/>
                </a:lnTo>
                <a:lnTo>
                  <a:pt x="837590" y="27432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56208" y="161483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/ P / X の意味</a:t>
            </a:r>
          </a:p>
        </p:txBody>
      </p:sp>
      <p:sp>
        <p:nvSpPr>
          <p:cNvPr id="9" name="Shape 7"/>
          <p:cNvSpPr/>
          <p:nvPr/>
        </p:nvSpPr>
        <p:spPr>
          <a:xfrm>
            <a:off x="789127" y="1080821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2396" y="116037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1" name="Text 9"/>
          <p:cNvSpPr/>
          <p:nvPr/>
        </p:nvSpPr>
        <p:spPr>
          <a:xfrm>
            <a:off x="1118311" y="1131113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</a:t>
            </a:r>
          </a:p>
        </p:txBody>
      </p:sp>
      <p:sp>
        <p:nvSpPr>
          <p:cNvPr id="20" name="Shape 18"/>
          <p:cNvSpPr/>
          <p:nvPr/>
        </p:nvSpPr>
        <p:spPr>
          <a:xfrm>
            <a:off x="5182819" y="2369210"/>
            <a:ext cx="1877263" cy="2104034"/>
          </a:xfrm>
          <a:custGeom>
            <a:avLst/>
            <a:gdLst/>
            <a:ahLst/>
            <a:cxnLst/>
            <a:rect l="l" t="t" r="r" b="b"/>
            <a:pathLst>
              <a:path w="1877263" h="2104034">
                <a:moveTo>
                  <a:pt x="938174" y="0"/>
                </a:moveTo>
                <a:lnTo>
                  <a:pt x="1039673" y="27432"/>
                </a:lnTo>
                <a:lnTo>
                  <a:pt x="1775765" y="449885"/>
                </a:lnTo>
                <a:lnTo>
                  <a:pt x="1877263" y="629107"/>
                </a:lnTo>
                <a:lnTo>
                  <a:pt x="1877263" y="1474927"/>
                </a:lnTo>
                <a:lnTo>
                  <a:pt x="1775765" y="1654150"/>
                </a:lnTo>
                <a:lnTo>
                  <a:pt x="1039673" y="2076602"/>
                </a:lnTo>
                <a:lnTo>
                  <a:pt x="837590" y="2076602"/>
                </a:lnTo>
                <a:lnTo>
                  <a:pt x="101498" y="1654150"/>
                </a:lnTo>
                <a:lnTo>
                  <a:pt x="0" y="1474927"/>
                </a:lnTo>
                <a:lnTo>
                  <a:pt x="0" y="629107"/>
                </a:lnTo>
                <a:lnTo>
                  <a:pt x="101498" y="449885"/>
                </a:lnTo>
                <a:lnTo>
                  <a:pt x="837590" y="27432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5146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0"/>
              </a:spcAft>
              <a:buNone/>
            </a:pPr>
            <a:r>
              <a:rPr lang="ja-JP" sz="1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</a:t>
            </a:r>
          </a:p>
          <a:p>
            <a:pPr algn="ctr" indent="0" marL="0">
              <a:lnSpc>
                <a:spcPct val="110000"/>
              </a:lnSpc>
              <a:spcAft>
                <a:spcPts val="0"/>
              </a:spcAft>
              <a:buNone/>
            </a:pPr>
            <a:r>
              <a:rPr lang="ja-JP" sz="1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R={1}</a:t>
            </a:r>
          </a:p>
          <a:p>
            <a:pPr algn="ctr" indent="0" marL="0">
              <a:lnSpc>
                <a:spcPct val="110000"/>
              </a:lnSpc>
              <a:spcAft>
                <a:spcPts val="0"/>
              </a:spcAft>
              <a:buNone/>
            </a:pPr>
            <a:r>
              <a:rPr lang="ja-JP" sz="1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P={2,5}</a:t>
            </a:r>
          </a:p>
          <a:p>
            <a:pPr algn="ctr" indent="0" marL="0">
              <a:lnSpc>
                <a:spcPct val="110000"/>
              </a:lnSpc>
              <a:spcAft>
                <a:spcPts val="0"/>
              </a:spcAft>
              <a:buNone/>
            </a:pPr>
            <a:r>
              <a:rPr lang="ja-JP" sz="1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X=∅</a:t>
            </a:r>
          </a:p>
        </p:txBody>
      </p:sp>
      <p:sp>
        <p:nvSpPr>
          <p:cNvPr id="22" name="Shape 20"/>
          <p:cNvSpPr/>
          <p:nvPr/>
        </p:nvSpPr>
        <p:spPr>
          <a:xfrm>
            <a:off x="8138160" y="1543507"/>
            <a:ext cx="253289" cy="253289"/>
          </a:xfrm>
          <a:prstGeom prst="ellipse">
            <a:avLst/>
          </a:prstGeom>
          <a:solidFill>
            <a:srgbClr val="2563EB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69096" y="1111910"/>
            <a:ext cx="3013862" cy="893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4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</a:t>
            </a:r>
          </a:p>
        </p:txBody>
      </p:sp>
      <p:sp>
        <p:nvSpPr>
          <p:cNvPr id="24" name="Text 22"/>
          <p:cNvSpPr/>
          <p:nvPr/>
        </p:nvSpPr>
        <p:spPr>
          <a:xfrm>
            <a:off x="8770924" y="19312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いま作っているクリーク</a:t>
            </a:r>
          </a:p>
        </p:txBody>
      </p:sp>
      <p:sp>
        <p:nvSpPr>
          <p:cNvPr id="25" name="Shape 23"/>
          <p:cNvSpPr/>
          <p:nvPr/>
        </p:nvSpPr>
        <p:spPr>
          <a:xfrm>
            <a:off x="9164117" y="3294583"/>
            <a:ext cx="253289" cy="253289"/>
          </a:xfrm>
          <a:prstGeom prst="ellipse">
            <a:avLst/>
          </a:prstGeom>
          <a:solidFill>
            <a:srgbClr val="2563EB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95053" y="2863901"/>
            <a:ext cx="2377440" cy="893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4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</a:p>
        </p:txBody>
      </p:sp>
      <p:sp>
        <p:nvSpPr>
          <p:cNvPr id="27" name="Text 25"/>
          <p:cNvSpPr/>
          <p:nvPr/>
        </p:nvSpPr>
        <p:spPr>
          <a:xfrm>
            <a:off x="9796881" y="3683203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の全点と隣接し、</a:t>
            </a:r>
          </a:p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まだ足せる候補</a:t>
            </a:r>
          </a:p>
        </p:txBody>
      </p:sp>
      <p:sp>
        <p:nvSpPr>
          <p:cNvPr id="28" name="Shape 26"/>
          <p:cNvSpPr/>
          <p:nvPr/>
        </p:nvSpPr>
        <p:spPr>
          <a:xfrm>
            <a:off x="8138160" y="5062118"/>
            <a:ext cx="253289" cy="253289"/>
          </a:xfrm>
          <a:prstGeom prst="ellipse">
            <a:avLst/>
          </a:prstGeom>
          <a:solidFill>
            <a:srgbClr val="2563EB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69096" y="4630522"/>
            <a:ext cx="3013862" cy="893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4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</a:p>
        </p:txBody>
      </p:sp>
      <p:sp>
        <p:nvSpPr>
          <p:cNvPr id="30" name="Text 28"/>
          <p:cNvSpPr/>
          <p:nvPr/>
        </p:nvSpPr>
        <p:spPr>
          <a:xfrm>
            <a:off x="8770924" y="544982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の全点と隣接するが、</a:t>
            </a:r>
          </a:p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調べ終えたので足さない点</a:t>
            </a:r>
          </a:p>
        </p:txBody>
      </p:sp>
      <p:sp>
        <p:nvSpPr>
          <p:cNvPr id="991" name="Report rule"/>
          <p:cNvSpPr/>
          <p:nvPr/>
        </p:nvSpPr>
        <p:spPr>
          <a:xfrm>
            <a:off x="779983" y="28346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ja-JP" sz="24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P=∅ かつ X=∅</a:t>
            </a:r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R は極大。報告する</a:t>
            </a:r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例：R={1} のとき P={2,5}、X=∅</a:t>
            </a:r>
            <a:br>
              <a:rPr lang="ja-JP" sz="16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（P は 1 の隣、調べ終えた点はまだない）</a:t>
            </a:r>
          </a:p>
        </p:txBody>
      </p:sp>
      <p:sp>
        <p:nvSpPr>
          <p:cNvPr id="31" name="Text 29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33"/>
          <p:cNvSpPr/>
          <p:nvPr/>
        </p:nvSpPr>
        <p:spPr>
          <a:xfrm>
            <a:off x="758038" y="1188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外側が独立な理由</a:t>
            </a:r>
          </a:p>
        </p:txBody>
      </p:sp>
      <p:sp>
        <p:nvSpPr>
          <p:cNvPr id="36" name="Shape 34"/>
          <p:cNvSpPr/>
          <p:nvPr/>
        </p:nvSpPr>
        <p:spPr>
          <a:xfrm>
            <a:off x="789128" y="68580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82396" y="765353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38" name="Text 36"/>
          <p:cNvSpPr/>
          <p:nvPr/>
        </p:nvSpPr>
        <p:spPr>
          <a:xfrm>
            <a:off x="1118312" y="73609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</a:t>
            </a:r>
          </a:p>
        </p:txBody>
      </p:sp>
      <p:sp>
        <p:nvSpPr>
          <p:cNvPr id="39" name="Shape 37"/>
          <p:cNvSpPr/>
          <p:nvPr/>
        </p:nvSpPr>
        <p:spPr>
          <a:xfrm>
            <a:off x="873252" y="2468880"/>
            <a:ext cx="202082" cy="20208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1155801" y="2377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19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極大クリーク C の中で順序が最初の点を v とする</a:t>
            </a:r>
          </a:p>
        </p:txBody>
      </p:sp>
      <p:sp>
        <p:nvSpPr>
          <p:cNvPr id="41" name="Text 39"/>
          <p:cNvSpPr/>
          <p:nvPr/>
        </p:nvSpPr>
        <p:spPr>
          <a:xfrm>
            <a:off x="1155801" y="28346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C∖{v} はすべて v の後ろの隣接（P）→ v の外側で出る</a:t>
            </a:r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の他の点 u の外側では v が X に入る → 出ない</a:t>
            </a:r>
          </a:p>
        </p:txBody>
      </p:sp>
      <p:sp>
        <p:nvSpPr>
          <p:cNvPr id="42" name="Shape 40"/>
          <p:cNvSpPr/>
          <p:nvPr/>
        </p:nvSpPr>
        <p:spPr>
          <a:xfrm>
            <a:off x="873252" y="4206240"/>
            <a:ext cx="202082" cy="20208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1155801" y="4114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19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各外側の出力は重ならず、合わせると全部</a:t>
            </a:r>
          </a:p>
        </p:txBody>
      </p:sp>
      <p:sp>
        <p:nvSpPr>
          <p:cNvPr id="44" name="Text 42"/>
          <p:cNvSpPr/>
          <p:nvPr/>
        </p:nvSpPr>
        <p:spPr>
          <a:xfrm>
            <a:off x="1155801" y="45720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20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外側タスク同士に依存がない</a:t>
            </a:r>
          </a:p>
          <a:p>
            <a:pPr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20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順番を気にせず並列に実行できる</a:t>
            </a:r>
          </a:p>
        </p:txBody>
      </p:sp>
      <p:sp>
        <p:nvSpPr>
          <p:cNvPr id="45" name="Shape 43"/>
          <p:cNvSpPr/>
          <p:nvPr/>
        </p:nvSpPr>
        <p:spPr>
          <a:xfrm>
            <a:off x="7223760" y="2377440"/>
            <a:ext cx="2066544" cy="2316175"/>
          </a:xfrm>
          <a:custGeom>
            <a:avLst/>
            <a:gdLst/>
            <a:ahLst/>
            <a:cxnLst/>
            <a:rect l="l" t="t" r="r" b="b"/>
            <a:pathLst>
              <a:path w="2066544" h="2316175">
                <a:moveTo>
                  <a:pt x="1033272" y="0"/>
                </a:moveTo>
                <a:lnTo>
                  <a:pt x="1144829" y="30175"/>
                </a:lnTo>
                <a:lnTo>
                  <a:pt x="1954987" y="495605"/>
                </a:lnTo>
                <a:lnTo>
                  <a:pt x="2066544" y="692201"/>
                </a:lnTo>
                <a:lnTo>
                  <a:pt x="2066544" y="1623974"/>
                </a:lnTo>
                <a:lnTo>
                  <a:pt x="1954987" y="1820570"/>
                </a:lnTo>
                <a:lnTo>
                  <a:pt x="1144829" y="2286000"/>
                </a:lnTo>
                <a:lnTo>
                  <a:pt x="921715" y="2286000"/>
                </a:lnTo>
                <a:lnTo>
                  <a:pt x="111557" y="1820570"/>
                </a:lnTo>
                <a:lnTo>
                  <a:pt x="0" y="1623974"/>
                </a:lnTo>
                <a:lnTo>
                  <a:pt x="0" y="692201"/>
                </a:lnTo>
                <a:lnTo>
                  <a:pt x="111557" y="495605"/>
                </a:lnTo>
                <a:lnTo>
                  <a:pt x="921715" y="30175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23760" y="2697480"/>
            <a:ext cx="206654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28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</a:t>
            </a:r>
          </a:p>
        </p:txBody>
      </p:sp>
      <p:sp>
        <p:nvSpPr>
          <p:cNvPr id="47" name="Text 45"/>
          <p:cNvSpPr/>
          <p:nvPr/>
        </p:nvSpPr>
        <p:spPr>
          <a:xfrm>
            <a:off x="7223760" y="3291840"/>
            <a:ext cx="206654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spcAft>
                <a:spcPts val="0"/>
              </a:spcAft>
              <a:buNone/>
            </a:pPr>
            <a:r>
              <a:rPr lang="ja-JP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最初の点は 1</a:t>
            </a:r>
          </a:p>
          <a:p>
            <a:pPr algn="ctr" indent="0" marL="0">
              <a:lnSpc>
                <a:spcPct val="130000"/>
              </a:lnSpc>
              <a:spcAft>
                <a:spcPts val="0"/>
              </a:spcAft>
              <a:buNone/>
            </a:pPr>
            <a:r>
              <a:rPr lang="ja-JP" sz="14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v=1 でだけ出る</a:t>
            </a:r>
          </a:p>
          <a:p>
            <a:pPr algn="ctr" indent="0" marL="0">
              <a:lnSpc>
                <a:spcPct val="130000"/>
              </a:lnSpc>
              <a:spcAft>
                <a:spcPts val="0"/>
              </a:spcAft>
              <a:buNone/>
            </a:pPr>
            <a:r>
              <a:rPr lang="ja-JP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（v=2 では X={1}）</a:t>
            </a:r>
          </a:p>
        </p:txBody>
      </p:sp>
      <p:sp>
        <p:nvSpPr>
          <p:cNvPr id="48" name="Shape 46"/>
          <p:cNvSpPr/>
          <p:nvPr/>
        </p:nvSpPr>
        <p:spPr>
          <a:xfrm>
            <a:off x="9509760" y="1280160"/>
            <a:ext cx="1443838" cy="1618488"/>
          </a:xfrm>
          <a:custGeom>
            <a:avLst/>
            <a:gdLst/>
            <a:ahLst/>
            <a:cxnLst/>
            <a:rect l="l" t="t" r="r" b="b"/>
            <a:pathLst>
              <a:path w="1443838" h="1618488">
                <a:moveTo>
                  <a:pt x="721462" y="0"/>
                </a:moveTo>
                <a:lnTo>
                  <a:pt x="800100" y="21031"/>
                </a:lnTo>
                <a:lnTo>
                  <a:pt x="1366114" y="346558"/>
                </a:lnTo>
                <a:lnTo>
                  <a:pt x="1443838" y="483718"/>
                </a:lnTo>
                <a:lnTo>
                  <a:pt x="1443838" y="1134770"/>
                </a:lnTo>
                <a:lnTo>
                  <a:pt x="1366114" y="1271930"/>
                </a:lnTo>
                <a:lnTo>
                  <a:pt x="800100" y="1597457"/>
                </a:lnTo>
                <a:lnTo>
                  <a:pt x="643738" y="1597457"/>
                </a:lnTo>
                <a:lnTo>
                  <a:pt x="77724" y="1271930"/>
                </a:lnTo>
                <a:lnTo>
                  <a:pt x="0" y="1134770"/>
                </a:lnTo>
                <a:lnTo>
                  <a:pt x="0" y="483718"/>
                </a:lnTo>
                <a:lnTo>
                  <a:pt x="77724" y="346558"/>
                </a:lnTo>
                <a:lnTo>
                  <a:pt x="643738" y="21031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98864" y="1691640"/>
            <a:ext cx="206654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論文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ja-JP" sz="1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Theorem 1</a:t>
            </a:r>
          </a:p>
        </p:txBody>
      </p:sp>
      <p:sp>
        <p:nvSpPr>
          <p:cNvPr id="53" name="Text 5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56208" y="1977847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極大クリークは全部で5個</a:t>
            </a:r>
          </a:p>
        </p:txBody>
      </p:sp>
      <p:sp>
        <p:nvSpPr>
          <p:cNvPr id="8" name="Shape 6"/>
          <p:cNvSpPr/>
          <p:nvPr/>
        </p:nvSpPr>
        <p:spPr>
          <a:xfrm>
            <a:off x="789127" y="1443838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523390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" y="1494130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</a:t>
            </a:r>
          </a:p>
        </p:txBody>
      </p:sp>
      <p:sp>
        <p:nvSpPr>
          <p:cNvPr id="11" name="Text 9"/>
          <p:cNvSpPr/>
          <p:nvPr/>
        </p:nvSpPr>
        <p:spPr>
          <a:xfrm>
            <a:off x="779983" y="29260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辺：1-2, 1-5, 2-3, 2-5, 3-4, 4-5, 4-6</a:t>
            </a:r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極大クリーク（5個）</a:t>
            </a:r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　{2,3}　{3,4}　{4,5}　{4,6}</a:t>
            </a:r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この5個を「漏れなく・重複なく」</a:t>
            </a:r>
            <a:b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出すのが目標</a:t>
            </a:r>
          </a:p>
        </p:txBody>
      </p:sp>
      <p:sp>
        <p:nvSpPr>
          <p:cNvPr id="30" name="Text 2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</a:p>
        </p:txBody>
      </p:sp>
      <p:pic>
        <p:nvPicPr>
          <p:cNvPr id="900" name="Figure bk-sample-graph" descr="6頂点の例グラフ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989320" y="1645920"/>
            <a:ext cx="5486400" cy="29260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01" name="Caption fig"/>
          <p:cNvSpPr/>
          <p:nvPr/>
        </p:nvSpPr>
        <p:spPr>
          <a:xfrm>
            <a:off x="598932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ja-JP" sz="1400" dirty="0">
                <a:solidFill>
                  <a:srgbClr val="D9480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赤い辺は 2–5（1–4 の辺はない）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5155" y="0"/>
            <a:ext cx="6606540" cy="5511089"/>
          </a:xfrm>
          <a:custGeom>
            <a:avLst/>
            <a:gdLst/>
            <a:ahLst/>
            <a:cxnLst/>
            <a:rect l="l" t="t" r="r" b="b"/>
            <a:pathLst>
              <a:path w="6606540" h="5511089">
                <a:moveTo>
                  <a:pt x="0" y="0"/>
                </a:moveTo>
                <a:lnTo>
                  <a:pt x="6606540" y="0"/>
                </a:lnTo>
                <a:lnTo>
                  <a:pt x="6606540" y="3830422"/>
                </a:lnTo>
                <a:lnTo>
                  <a:pt x="3871570" y="5412334"/>
                </a:lnTo>
                <a:lnTo>
                  <a:pt x="3111703" y="5412334"/>
                </a:lnTo>
                <a:lnTo>
                  <a:pt x="383134" y="3830422"/>
                </a:lnTo>
                <a:lnTo>
                  <a:pt x="0" y="3174797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Text 2"/>
          <p:cNvSpPr/>
          <p:nvPr/>
        </p:nvSpPr>
        <p:spPr>
          <a:xfrm>
            <a:off x="751637" y="960120"/>
            <a:ext cx="4846320" cy="1015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ja-JP" sz="60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O(dn·3</a:t>
            </a:r>
            <a:r>
              <a:rPr lang="ja-JP" sz="6000" dirty="0" b="1" baseline="3000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60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</a:p>
        </p:txBody>
      </p:sp>
      <p:sp>
        <p:nvSpPr>
          <p:cNvPr id="5" name="Text 3"/>
          <p:cNvSpPr/>
          <p:nvPr/>
        </p:nvSpPr>
        <p:spPr>
          <a:xfrm>
            <a:off x="776325" y="205740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各外側の再帰は |P| ≤ d → 指数部分は 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b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（Tomita の解析を d に当てはめる）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 i のコスト：O((d + |X</a:t>
            </a:r>
            <a:r>
              <a:rPr lang="ja-JP" sz="17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|)·3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r>
              <a:rPr lang="ja-JP" sz="17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（Lemma 6）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Σ|X</a:t>
            </a:r>
            <a:r>
              <a:rPr lang="ja-JP" sz="17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 ＝ 辺数 m ≤ dn（各辺を一度ずつ数える）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 O(dn·3</a:t>
            </a:r>
            <a:r>
              <a:rPr lang="ja-JP" sz="1700" dirty="0" baseline="3000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r>
              <a:rPr lang="ja-JP" sz="17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（Theorem 2）</a:t>
            </a:r>
          </a:p>
        </p:txBody>
      </p:sp>
      <p:sp>
        <p:nvSpPr>
          <p:cNvPr id="6" name="Text 4"/>
          <p:cNvSpPr/>
          <p:nvPr/>
        </p:nvSpPr>
        <p:spPr>
          <a:xfrm>
            <a:off x="756209" y="4913071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計算量の内訳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437906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445861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442935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計算量</a:t>
            </a:r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1369771" cy="1535278"/>
          </a:xfrm>
          <a:custGeom>
            <a:avLst/>
            <a:gdLst/>
            <a:ahLst/>
            <a:cxnLst/>
            <a:rect l="l" t="t" r="r" b="b"/>
            <a:pathLst>
              <a:path w="1369771" h="1535278">
                <a:moveTo>
                  <a:pt x="684886" y="0"/>
                </a:moveTo>
                <a:lnTo>
                  <a:pt x="758952" y="20117"/>
                </a:lnTo>
                <a:lnTo>
                  <a:pt x="1295705" y="328270"/>
                </a:lnTo>
                <a:lnTo>
                  <a:pt x="1369771" y="459029"/>
                </a:lnTo>
                <a:lnTo>
                  <a:pt x="1369771" y="1076249"/>
                </a:lnTo>
                <a:lnTo>
                  <a:pt x="1295705" y="1207008"/>
                </a:lnTo>
                <a:lnTo>
                  <a:pt x="758952" y="1515161"/>
                </a:lnTo>
                <a:lnTo>
                  <a:pt x="610819" y="1515161"/>
                </a:lnTo>
                <a:lnTo>
                  <a:pt x="74066" y="1207008"/>
                </a:lnTo>
                <a:lnTo>
                  <a:pt x="0" y="1076249"/>
                </a:lnTo>
                <a:lnTo>
                  <a:pt x="0" y="459029"/>
                </a:lnTo>
                <a:lnTo>
                  <a:pt x="74066" y="328270"/>
                </a:lnTo>
                <a:lnTo>
                  <a:pt x="610819" y="20117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701137"/>
            <a:ext cx="1369771" cy="4517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20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ほぼ最適</a:t>
            </a:r>
          </a:p>
        </p:txBody>
      </p:sp>
      <p:sp>
        <p:nvSpPr>
          <p:cNvPr id="1800" name="Text box 1800"/>
          <p:cNvSpPr txBox="1"/>
          <p:nvPr/>
        </p:nvSpPr>
        <p:spPr>
          <a:xfrm>
            <a:off x="6400800" y="39319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400"/>
              </a:spcAft>
            </a:pPr>
            <a:r>
              <a:rPr lang="ja-JP" sz="15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縮退数 d のグラフには、極大クリークが</a:t>
            </a:r>
          </a:p>
          <a:p>
            <a:pPr algn="ctr">
              <a:spcAft>
                <a:spcPts val="400"/>
              </a:spcAft>
            </a:pPr>
            <a:r>
              <a:rPr lang="ja-JP" sz="15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最大 (n − d)3</a:t>
            </a:r>
            <a:r>
              <a:rPr lang="ja-JP" sz="1500" dirty="0" baseline="3000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d/3</a:t>
            </a:r>
            <a:r>
              <a:rPr lang="ja-JP" sz="15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 個ありうる（Theorem 3）</a:t>
            </a:r>
          </a:p>
          <a:p>
            <a:pPr algn="ctr">
              <a:spcAft>
                <a:spcPts val="400"/>
              </a:spcAft>
            </a:pPr>
            <a:r>
              <a:rPr lang="ja-JP" sz="1500" dirty="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→ O(dn·3</a:t>
            </a:r>
            <a:r>
              <a:rPr lang="ja-JP" sz="1500" dirty="0" baseline="300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d/3</a:t>
            </a:r>
            <a:r>
              <a:rPr lang="ja-JP" sz="1500" dirty="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) はほぼ最適（論文 §3）</a:t>
            </a:r>
          </a:p>
        </p:txBody>
      </p:sp>
      <p:sp>
        <p:nvSpPr>
          <p:cNvPr id="12" name="Text 10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8055" y="3429000"/>
            <a:ext cx="4634179" cy="3429000"/>
          </a:xfrm>
          <a:custGeom>
            <a:avLst/>
            <a:gdLst/>
            <a:ahLst/>
            <a:cxnLst/>
            <a:rect l="l" t="t" r="r" b="b"/>
            <a:pathLst>
              <a:path w="4634179" h="3429000">
                <a:moveTo>
                  <a:pt x="2317090" y="0"/>
                </a:moveTo>
                <a:lnTo>
                  <a:pt x="2567635" y="113386"/>
                </a:lnTo>
                <a:lnTo>
                  <a:pt x="4383634" y="1837944"/>
                </a:lnTo>
                <a:lnTo>
                  <a:pt x="4634179" y="2263140"/>
                </a:lnTo>
                <a:lnTo>
                  <a:pt x="4634179" y="3429000"/>
                </a:lnTo>
                <a:lnTo>
                  <a:pt x="0" y="3429000"/>
                </a:lnTo>
                <a:lnTo>
                  <a:pt x="0" y="2263140"/>
                </a:lnTo>
                <a:lnTo>
                  <a:pt x="250546" y="1837944"/>
                </a:lnTo>
                <a:lnTo>
                  <a:pt x="2066544" y="113386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882396" y="0"/>
            <a:ext cx="5045659" cy="4016959"/>
          </a:xfrm>
          <a:custGeom>
            <a:avLst/>
            <a:gdLst/>
            <a:ahLst/>
            <a:cxnLst/>
            <a:rect l="l" t="t" r="r" b="b"/>
            <a:pathLst>
              <a:path w="5045659" h="4016959">
                <a:moveTo>
                  <a:pt x="5486" y="0"/>
                </a:moveTo>
                <a:lnTo>
                  <a:pt x="5040173" y="0"/>
                </a:lnTo>
                <a:lnTo>
                  <a:pt x="5045659" y="52121"/>
                </a:lnTo>
                <a:lnTo>
                  <a:pt x="5045659" y="2329891"/>
                </a:lnTo>
                <a:lnTo>
                  <a:pt x="4773168" y="2803550"/>
                </a:lnTo>
                <a:lnTo>
                  <a:pt x="2795321" y="3944722"/>
                </a:lnTo>
                <a:lnTo>
                  <a:pt x="2250338" y="3944722"/>
                </a:lnTo>
                <a:lnTo>
                  <a:pt x="272491" y="2803550"/>
                </a:lnTo>
                <a:lnTo>
                  <a:pt x="0" y="2329891"/>
                </a:lnTo>
                <a:lnTo>
                  <a:pt x="0" y="52121"/>
                </a:lnTo>
                <a:close/>
              </a:path>
            </a:pathLst>
          </a:custGeom>
          <a:solidFill>
            <a:srgbClr val="F1F5FB"/>
          </a:solidFill>
          <a:ln w="15875">
            <a:noFill/>
          </a:ln>
        </p:spPr>
      </p:sp>
      <p:sp>
        <p:nvSpPr>
          <p:cNvPr id="5" name="Text 3"/>
          <p:cNvSpPr/>
          <p:nvPr/>
        </p:nvSpPr>
        <p:spPr>
          <a:xfrm>
            <a:off x="882396" y="164592"/>
            <a:ext cx="50456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順序 6, 1, 2, 3, 4, 5（左が先に剥がした点）</a:t>
            </a:r>
          </a:p>
        </p:txBody>
      </p:sp>
      <p:sp>
        <p:nvSpPr>
          <p:cNvPr id="1500" name="Edge arc 1500"/>
          <p:cNvSpPr/>
          <p:nvPr/>
        </p:nvSpPr>
        <p:spPr>
          <a:xfrm>
            <a:off x="2203704" y="1188719"/>
            <a:ext cx="786383" cy="384048"/>
          </a:xfrm>
          <a:custGeom>
            <a:avLst/>
            <a:gdLst/>
            <a:ahLst/>
            <a:cxnLst/>
            <a:rect l="0" t="0" r="r" b="b"/>
            <a:pathLst>
              <a:path w="786383" h="384048" fill="none">
                <a:moveTo>
                  <a:pt x="0" y="384048"/>
                </a:moveTo>
                <a:cubicBezTo>
                  <a:pt x="0" y="-128016"/>
                  <a:pt x="786383" y="-128016"/>
                  <a:pt x="786383" y="384048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1" name="Edge arc 1501"/>
          <p:cNvSpPr/>
          <p:nvPr/>
        </p:nvSpPr>
        <p:spPr>
          <a:xfrm>
            <a:off x="2203704" y="585215"/>
            <a:ext cx="3145535" cy="987552"/>
          </a:xfrm>
          <a:custGeom>
            <a:avLst/>
            <a:gdLst/>
            <a:ahLst/>
            <a:cxnLst/>
            <a:rect l="0" t="0" r="r" b="b"/>
            <a:pathLst>
              <a:path w="3145535" h="987552" fill="none">
                <a:moveTo>
                  <a:pt x="0" y="987552"/>
                </a:moveTo>
                <a:cubicBezTo>
                  <a:pt x="0" y="-329184"/>
                  <a:pt x="3145535" y="-329184"/>
                  <a:pt x="3145535" y="987552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2" name="Edge arc 1502"/>
          <p:cNvSpPr/>
          <p:nvPr/>
        </p:nvSpPr>
        <p:spPr>
          <a:xfrm>
            <a:off x="2990088" y="1188719"/>
            <a:ext cx="786383" cy="384048"/>
          </a:xfrm>
          <a:custGeom>
            <a:avLst/>
            <a:gdLst/>
            <a:ahLst/>
            <a:cxnLst/>
            <a:rect l="0" t="0" r="r" b="b"/>
            <a:pathLst>
              <a:path w="786383" h="384048" fill="none">
                <a:moveTo>
                  <a:pt x="0" y="384048"/>
                </a:moveTo>
                <a:cubicBezTo>
                  <a:pt x="0" y="-128016"/>
                  <a:pt x="786383" y="-128016"/>
                  <a:pt x="786383" y="384048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3" name="Edge arc 1503"/>
          <p:cNvSpPr/>
          <p:nvPr/>
        </p:nvSpPr>
        <p:spPr>
          <a:xfrm>
            <a:off x="2990088" y="786383"/>
            <a:ext cx="2359151" cy="786384"/>
          </a:xfrm>
          <a:custGeom>
            <a:avLst/>
            <a:gdLst/>
            <a:ahLst/>
            <a:cxnLst/>
            <a:rect l="0" t="0" r="r" b="b"/>
            <a:pathLst>
              <a:path w="2359151" h="786384" fill="none">
                <a:moveTo>
                  <a:pt x="0" y="786384"/>
                </a:moveTo>
                <a:cubicBezTo>
                  <a:pt x="0" y="-262128"/>
                  <a:pt x="2359151" y="-262128"/>
                  <a:pt x="2359151" y="786384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4" name="Edge arc 1504"/>
          <p:cNvSpPr/>
          <p:nvPr/>
        </p:nvSpPr>
        <p:spPr>
          <a:xfrm>
            <a:off x="3776472" y="1188719"/>
            <a:ext cx="786384" cy="384048"/>
          </a:xfrm>
          <a:custGeom>
            <a:avLst/>
            <a:gdLst/>
            <a:ahLst/>
            <a:cxnLst/>
            <a:rect l="0" t="0" r="r" b="b"/>
            <a:pathLst>
              <a:path w="786384" h="384048" fill="none">
                <a:moveTo>
                  <a:pt x="0" y="384048"/>
                </a:moveTo>
                <a:cubicBezTo>
                  <a:pt x="0" y="-128016"/>
                  <a:pt x="786384" y="-128016"/>
                  <a:pt x="786384" y="384048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5" name="Edge arc 1505"/>
          <p:cNvSpPr/>
          <p:nvPr/>
        </p:nvSpPr>
        <p:spPr>
          <a:xfrm>
            <a:off x="4562856" y="1188719"/>
            <a:ext cx="786383" cy="384048"/>
          </a:xfrm>
          <a:custGeom>
            <a:avLst/>
            <a:gdLst/>
            <a:ahLst/>
            <a:cxnLst/>
            <a:rect l="0" t="0" r="r" b="b"/>
            <a:pathLst>
              <a:path w="786383" h="384048" fill="none">
                <a:moveTo>
                  <a:pt x="0" y="384048"/>
                </a:moveTo>
                <a:cubicBezTo>
                  <a:pt x="0" y="-128016"/>
                  <a:pt x="786383" y="-128016"/>
                  <a:pt x="786383" y="384048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6" name="Edge arc 1506"/>
          <p:cNvSpPr/>
          <p:nvPr/>
        </p:nvSpPr>
        <p:spPr>
          <a:xfrm>
            <a:off x="1417320" y="585215"/>
            <a:ext cx="3145536" cy="987552"/>
          </a:xfrm>
          <a:custGeom>
            <a:avLst/>
            <a:gdLst/>
            <a:ahLst/>
            <a:cxnLst/>
            <a:rect l="0" t="0" r="r" b="b"/>
            <a:pathLst>
              <a:path w="3145536" h="987552" fill="none">
                <a:moveTo>
                  <a:pt x="0" y="987552"/>
                </a:moveTo>
                <a:cubicBezTo>
                  <a:pt x="0" y="-329184"/>
                  <a:pt x="3145536" y="-329184"/>
                  <a:pt x="3145536" y="987552"/>
                </a:cubicBez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1507" name="Vertex 6"/>
          <p:cNvSpPr/>
          <p:nvPr/>
        </p:nvSpPr>
        <p:spPr>
          <a:xfrm>
            <a:off x="1188720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508" name="Text box 1508"/>
          <p:cNvSpPr txBox="1"/>
          <p:nvPr/>
        </p:nvSpPr>
        <p:spPr>
          <a:xfrm>
            <a:off x="1024128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{4}</a:t>
            </a:r>
          </a:p>
        </p:txBody>
      </p:sp>
      <p:sp>
        <p:nvSpPr>
          <p:cNvPr id="1509" name="Vertex 1"/>
          <p:cNvSpPr/>
          <p:nvPr/>
        </p:nvSpPr>
        <p:spPr>
          <a:xfrm>
            <a:off x="1975104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1510" name="Text box 1510"/>
          <p:cNvSpPr txBox="1"/>
          <p:nvPr/>
        </p:nvSpPr>
        <p:spPr>
          <a:xfrm>
            <a:off x="1810512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{2,5}</a:t>
            </a:r>
          </a:p>
        </p:txBody>
      </p:sp>
      <p:sp>
        <p:nvSpPr>
          <p:cNvPr id="1511" name="Vertex 2"/>
          <p:cNvSpPr/>
          <p:nvPr/>
        </p:nvSpPr>
        <p:spPr>
          <a:xfrm>
            <a:off x="2761488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512" name="Text box 1512"/>
          <p:cNvSpPr txBox="1"/>
          <p:nvPr/>
        </p:nvSpPr>
        <p:spPr>
          <a:xfrm>
            <a:off x="2596896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{3,5}</a:t>
            </a:r>
          </a:p>
        </p:txBody>
      </p:sp>
      <p:sp>
        <p:nvSpPr>
          <p:cNvPr id="1513" name="Vertex 3"/>
          <p:cNvSpPr/>
          <p:nvPr/>
        </p:nvSpPr>
        <p:spPr>
          <a:xfrm>
            <a:off x="3547872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514" name="Text box 1514"/>
          <p:cNvSpPr txBox="1"/>
          <p:nvPr/>
        </p:nvSpPr>
        <p:spPr>
          <a:xfrm>
            <a:off x="3383279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{4}</a:t>
            </a:r>
          </a:p>
        </p:txBody>
      </p:sp>
      <p:sp>
        <p:nvSpPr>
          <p:cNvPr id="1515" name="Vertex 4"/>
          <p:cNvSpPr/>
          <p:nvPr/>
        </p:nvSpPr>
        <p:spPr>
          <a:xfrm>
            <a:off x="4334256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516" name="Text box 1516"/>
          <p:cNvSpPr txBox="1"/>
          <p:nvPr/>
        </p:nvSpPr>
        <p:spPr>
          <a:xfrm>
            <a:off x="4169664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{5}</a:t>
            </a:r>
          </a:p>
        </p:txBody>
      </p:sp>
      <p:sp>
        <p:nvSpPr>
          <p:cNvPr id="1517" name="Vertex 5"/>
          <p:cNvSpPr/>
          <p:nvPr/>
        </p:nvSpPr>
        <p:spPr>
          <a:xfrm>
            <a:off x="5120640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none" lIns="0" rIns="0" tIns="0" bIns="0" anchor="ctr"/>
          <a:lstStyle/>
          <a:p>
            <a:pPr algn="ctr"/>
            <a:r>
              <a:rPr lang="ja-JP" sz="18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518" name="Text box 1518"/>
          <p:cNvSpPr txBox="1"/>
          <p:nvPr/>
        </p:nvSpPr>
        <p:spPr>
          <a:xfrm>
            <a:off x="4956048" y="2084831"/>
            <a:ext cx="7863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∅</a:t>
            </a:r>
          </a:p>
        </p:txBody>
      </p:sp>
      <p:sp>
        <p:nvSpPr>
          <p:cNvPr id="1519" name="Text box 1519"/>
          <p:cNvSpPr txBox="1"/>
          <p:nvPr/>
        </p:nvSpPr>
        <p:spPr>
          <a:xfrm>
            <a:off x="882396" y="2441448"/>
            <a:ext cx="50456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↑ 各点の「後ろの隣接点」（どれも 2 個以下）</a:t>
            </a:r>
          </a:p>
        </p:txBody>
      </p:sp>
      <p:sp>
        <p:nvSpPr>
          <p:cNvPr id="6" name="Text 4"/>
          <p:cNvSpPr/>
          <p:nvPr/>
        </p:nvSpPr>
        <p:spPr>
          <a:xfrm>
            <a:off x="756209" y="4913071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縮退順序の性質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437906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445861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442935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縮退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0" y="9144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ja-JP" sz="2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後ろの隣接点は</a:t>
            </a:r>
            <a:br>
              <a:rPr lang="ja-JP" sz="2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2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高々 d = 2 個</a:t>
            </a:r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理由：剥がす瞬間に残っている隣接点</a:t>
            </a:r>
            <a:b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＝ 順序で後ろの隣接点</a:t>
            </a:r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その数は剥がすときの次数 ≤ d</a:t>
            </a:r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これが次の外側ループで </a:t>
            </a: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|P| ≤ d</a:t>
            </a: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になる理由</a:t>
            </a:r>
          </a:p>
        </p:txBody>
      </p:sp>
      <p:sp>
        <p:nvSpPr>
          <p:cNvPr id="16" name="Text 14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94830" y="0"/>
            <a:ext cx="5096866" cy="3429000"/>
          </a:xfrm>
          <a:custGeom>
            <a:avLst/>
            <a:gdLst/>
            <a:ahLst/>
            <a:cxnLst/>
            <a:rect l="l" t="t" r="r" b="b"/>
            <a:pathLst>
              <a:path w="5096866" h="3429000">
                <a:moveTo>
                  <a:pt x="0" y="0"/>
                </a:moveTo>
                <a:lnTo>
                  <a:pt x="5096866" y="0"/>
                </a:lnTo>
                <a:lnTo>
                  <a:pt x="5096866" y="2486254"/>
                </a:lnTo>
                <a:lnTo>
                  <a:pt x="3629254" y="3332988"/>
                </a:lnTo>
                <a:lnTo>
                  <a:pt x="2915107" y="3332988"/>
                </a:lnTo>
                <a:lnTo>
                  <a:pt x="356616" y="1855318"/>
                </a:lnTo>
                <a:lnTo>
                  <a:pt x="0" y="1238098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096866" y="652882"/>
            <a:ext cx="6208776" cy="6205118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5" name="Shape 3"/>
          <p:cNvSpPr/>
          <p:nvPr/>
        </p:nvSpPr>
        <p:spPr>
          <a:xfrm>
            <a:off x="789127" y="233629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24158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238658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第1部</a:t>
            </a:r>
          </a:p>
        </p:txBody>
      </p:sp>
      <p:sp>
        <p:nvSpPr>
          <p:cNvPr id="8" name="Text 6"/>
          <p:cNvSpPr/>
          <p:nvPr/>
        </p:nvSpPr>
        <p:spPr>
          <a:xfrm>
            <a:off x="737006" y="2880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4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アルゴリズム</a:t>
            </a:r>
          </a:p>
        </p:txBody>
      </p:sp>
      <p:sp>
        <p:nvSpPr>
          <p:cNvPr id="9" name="Text 7"/>
          <p:cNvSpPr/>
          <p:nvPr/>
        </p:nvSpPr>
        <p:spPr>
          <a:xfrm>
            <a:off x="787298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sz="2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 → Tomita → Eppstein</a:t>
            </a:r>
          </a:p>
        </p:txBody>
      </p:sp>
      <p:sp>
        <p:nvSpPr>
          <p:cNvPr id="20" name="Text 1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1750" y="3439058"/>
            <a:ext cx="4646981" cy="3418942"/>
          </a:xfrm>
          <a:custGeom>
            <a:avLst/>
            <a:gdLst/>
            <a:ahLst/>
            <a:cxnLst/>
            <a:rect l="l" t="t" r="r" b="b"/>
            <a:pathLst>
              <a:path w="4646981" h="3418942">
                <a:moveTo>
                  <a:pt x="2323490" y="0"/>
                </a:moveTo>
                <a:lnTo>
                  <a:pt x="2574036" y="112471"/>
                </a:lnTo>
                <a:lnTo>
                  <a:pt x="4396435" y="1832458"/>
                </a:lnTo>
                <a:lnTo>
                  <a:pt x="4646981" y="2256739"/>
                </a:lnTo>
                <a:lnTo>
                  <a:pt x="4646981" y="3418942"/>
                </a:lnTo>
                <a:lnTo>
                  <a:pt x="0" y="3418942"/>
                </a:lnTo>
                <a:lnTo>
                  <a:pt x="0" y="2256739"/>
                </a:lnTo>
                <a:lnTo>
                  <a:pt x="250546" y="1832458"/>
                </a:lnTo>
                <a:lnTo>
                  <a:pt x="2072945" y="112471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Text 1"/>
          <p:cNvSpPr/>
          <p:nvPr/>
        </p:nvSpPr>
        <p:spPr>
          <a:xfrm>
            <a:off x="5260543" y="4634179"/>
            <a:ext cx="4748479" cy="902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34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O(dn·3</a:t>
            </a:r>
            <a:r>
              <a:rPr lang="ja-JP" sz="3400" dirty="0" b="1" baseline="3000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34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</a:p>
        </p:txBody>
      </p:sp>
      <p:sp>
        <p:nvSpPr>
          <p:cNvPr id="4" name="Text 2"/>
          <p:cNvSpPr/>
          <p:nvPr/>
        </p:nvSpPr>
        <p:spPr>
          <a:xfrm>
            <a:off x="5260543" y="5532120"/>
            <a:ext cx="474847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ja-JP" sz="16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Eppstein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ja-JP" sz="15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指数は d にだけ依存、n には線形</a:t>
            </a:r>
          </a:p>
        </p:txBody>
      </p:sp>
      <p:sp>
        <p:nvSpPr>
          <p:cNvPr id="5" name="Shape 3"/>
          <p:cNvSpPr/>
          <p:nvPr/>
        </p:nvSpPr>
        <p:spPr>
          <a:xfrm>
            <a:off x="8296351" y="670255"/>
            <a:ext cx="3020263" cy="3386023"/>
          </a:xfrm>
          <a:custGeom>
            <a:avLst/>
            <a:gdLst/>
            <a:ahLst/>
            <a:cxnLst/>
            <a:rect l="l" t="t" r="r" b="b"/>
            <a:pathLst>
              <a:path w="3020263" h="3386023">
                <a:moveTo>
                  <a:pt x="1509674" y="0"/>
                </a:moveTo>
                <a:lnTo>
                  <a:pt x="1673352" y="43891"/>
                </a:lnTo>
                <a:lnTo>
                  <a:pt x="2857500" y="724205"/>
                </a:lnTo>
                <a:lnTo>
                  <a:pt x="3020263" y="1012241"/>
                </a:lnTo>
                <a:lnTo>
                  <a:pt x="3020263" y="2373782"/>
                </a:lnTo>
                <a:lnTo>
                  <a:pt x="2857500" y="2661818"/>
                </a:lnTo>
                <a:lnTo>
                  <a:pt x="1673352" y="3342132"/>
                </a:lnTo>
                <a:lnTo>
                  <a:pt x="1346911" y="3342132"/>
                </a:lnTo>
                <a:lnTo>
                  <a:pt x="162763" y="2661818"/>
                </a:lnTo>
                <a:lnTo>
                  <a:pt x="0" y="2373782"/>
                </a:lnTo>
                <a:lnTo>
                  <a:pt x="0" y="1012241"/>
                </a:lnTo>
                <a:lnTo>
                  <a:pt x="162763" y="724205"/>
                </a:lnTo>
                <a:lnTo>
                  <a:pt x="1346911" y="43891"/>
                </a:lnTo>
                <a:close/>
              </a:path>
            </a:pathLst>
          </a:custGeom>
          <a:solidFill>
            <a:srgbClr val="FBFBF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33158" y="1709014"/>
            <a:ext cx="4748479" cy="760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O(3</a:t>
            </a:r>
            <a:r>
              <a:rPr lang="ja-JP" sz="3400" dirty="0" b="1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</a:p>
        </p:txBody>
      </p:sp>
      <p:sp>
        <p:nvSpPr>
          <p:cNvPr id="7" name="Text 5"/>
          <p:cNvSpPr/>
          <p:nvPr/>
        </p:nvSpPr>
        <p:spPr>
          <a:xfrm>
            <a:off x="7433157" y="2514600"/>
            <a:ext cx="474847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ja-JP" sz="1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指数が n に依存</a:t>
            </a:r>
          </a:p>
        </p:txBody>
      </p:sp>
      <p:sp>
        <p:nvSpPr>
          <p:cNvPr id="8" name="Text 6"/>
          <p:cNvSpPr/>
          <p:nvPr/>
        </p:nvSpPr>
        <p:spPr>
          <a:xfrm>
            <a:off x="756209" y="1805026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 との比較</a:t>
            </a:r>
          </a:p>
        </p:txBody>
      </p:sp>
      <p:sp>
        <p:nvSpPr>
          <p:cNvPr id="9" name="Shape 7"/>
          <p:cNvSpPr/>
          <p:nvPr/>
        </p:nvSpPr>
        <p:spPr>
          <a:xfrm>
            <a:off x="789127" y="1271016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2396" y="1350569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1" name="Text 9"/>
          <p:cNvSpPr/>
          <p:nvPr/>
        </p:nvSpPr>
        <p:spPr>
          <a:xfrm>
            <a:off x="1118311" y="1321308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</a:t>
            </a:r>
          </a:p>
        </p:txBody>
      </p:sp>
      <p:sp>
        <p:nvSpPr>
          <p:cNvPr id="12" name="Text 10"/>
          <p:cNvSpPr/>
          <p:nvPr/>
        </p:nvSpPr>
        <p:spPr>
          <a:xfrm>
            <a:off x="779983" y="251460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疎なグラフでは d ≪ n</a:t>
            </a:r>
            <a:b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Eppstein の上界がずっと小さい</a:t>
            </a:r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上界の計算例（実測ではない）：n=300, d=6</a:t>
            </a:r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≈ 5.2×10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47</a:t>
            </a:r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d·n·3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6·300·3</a:t>
            </a:r>
            <a:r>
              <a:rPr lang="ja-JP" sz="17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16,200</a:t>
            </a:r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これは最悪時間の上界の比較で、実際の実行時間の差がここまで開くわけではない</a:t>
            </a:r>
          </a:p>
        </p:txBody>
      </p:sp>
      <p:sp>
        <p:nvSpPr>
          <p:cNvPr id="27" name="Text 25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756209" y="1616659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今日の流れ</a:t>
            </a:r>
          </a:p>
        </p:txBody>
      </p:sp>
      <p:sp>
        <p:nvSpPr>
          <p:cNvPr id="12" name="Shape 10"/>
          <p:cNvSpPr/>
          <p:nvPr/>
        </p:nvSpPr>
        <p:spPr>
          <a:xfrm>
            <a:off x="789127" y="108265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2396" y="116220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8311" y="113294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</a:p>
        </p:txBody>
      </p:sp>
      <p:sp>
        <p:nvSpPr>
          <p:cNvPr id="15" name="Text 13"/>
          <p:cNvSpPr/>
          <p:nvPr/>
        </p:nvSpPr>
        <p:spPr>
          <a:xfrm>
            <a:off x="777240" y="2487168"/>
            <a:ext cx="3749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BK（Bron–Kerbosch）</a:t>
            </a:r>
          </a:p>
        </p:txBody>
      </p:sp>
      <p:sp>
        <p:nvSpPr>
          <p:cNvPr id="17" name="Text 15"/>
          <p:cNvSpPr/>
          <p:nvPr/>
        </p:nvSpPr>
        <p:spPr>
          <a:xfrm>
            <a:off x="4617720" y="248716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極大クリークを、漏れなく重複なく出すには？</a:t>
            </a:r>
          </a:p>
        </p:txBody>
      </p:sp>
      <p:sp>
        <p:nvSpPr>
          <p:cNvPr id="34" name="Text 32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</a:p>
        </p:txBody>
      </p:sp>
      <p:cxnSp>
        <p:nvCxnSpPr>
          <p:cNvPr id="950" name="Rule 0"/>
          <p:cNvCxnSpPr/>
          <p:nvPr/>
        </p:nvCxnSpPr>
        <p:spPr>
          <a:xfrm>
            <a:off x="777240" y="3163824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61" name="Text 13 r1"/>
          <p:cNvSpPr/>
          <p:nvPr/>
        </p:nvSpPr>
        <p:spPr>
          <a:xfrm>
            <a:off x="777240" y="3163824"/>
            <a:ext cx="3749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Tomita（ピボット）</a:t>
            </a:r>
          </a:p>
        </p:txBody>
      </p:sp>
      <p:sp>
        <p:nvSpPr>
          <p:cNvPr id="962" name="Text 15 r1"/>
          <p:cNvSpPr/>
          <p:nvPr/>
        </p:nvSpPr>
        <p:spPr>
          <a:xfrm>
            <a:off x="4617720" y="3163824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むだな枝をどう減らす？ 最悪どれくらいかかる？</a:t>
            </a:r>
          </a:p>
        </p:txBody>
      </p:sp>
      <p:cxnSp>
        <p:nvCxnSpPr>
          <p:cNvPr id="963" name="Rule 1 r1"/>
          <p:cNvCxnSpPr/>
          <p:nvPr/>
        </p:nvCxnSpPr>
        <p:spPr>
          <a:xfrm>
            <a:off x="777240" y="3840480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64" name="Text 13 r2"/>
          <p:cNvSpPr/>
          <p:nvPr/>
        </p:nvSpPr>
        <p:spPr>
          <a:xfrm>
            <a:off x="777240" y="3840480"/>
            <a:ext cx="3749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Eppstein（縮退）</a:t>
            </a:r>
          </a:p>
        </p:txBody>
      </p:sp>
      <p:sp>
        <p:nvSpPr>
          <p:cNvPr id="965" name="Text 15 r2"/>
          <p:cNvSpPr/>
          <p:nvPr/>
        </p:nvSpPr>
        <p:spPr>
          <a:xfrm>
            <a:off x="4617720" y="3840480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疎なグラフなら、もっと速くできるのはなぜ？</a:t>
            </a:r>
          </a:p>
        </p:txBody>
      </p:sp>
      <p:cxnSp>
        <p:nvCxnSpPr>
          <p:cNvPr id="966" name="Rule 2 r2"/>
          <p:cNvCxnSpPr/>
          <p:nvPr/>
        </p:nvCxnSpPr>
        <p:spPr>
          <a:xfrm>
            <a:off x="777240" y="4517136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67" name="Text 13 r3"/>
          <p:cNvSpPr/>
          <p:nvPr/>
        </p:nvSpPr>
        <p:spPr>
          <a:xfrm>
            <a:off x="777240" y="4517136"/>
            <a:ext cx="3749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並列化</a:t>
            </a:r>
          </a:p>
        </p:txBody>
      </p:sp>
      <p:sp>
        <p:nvSpPr>
          <p:cNvPr id="968" name="Text 15 r3"/>
          <p:cNvSpPr/>
          <p:nvPr/>
        </p:nvSpPr>
        <p:spPr>
          <a:xfrm>
            <a:off x="4617720" y="4517136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どこで分ければ、独立に並列で動かせる？</a:t>
            </a:r>
          </a:p>
        </p:txBody>
      </p:sp>
      <p:cxnSp>
        <p:nvCxnSpPr>
          <p:cNvPr id="969" name="Rule 0 r3"/>
          <p:cNvCxnSpPr/>
          <p:nvPr/>
        </p:nvCxnSpPr>
        <p:spPr>
          <a:xfrm>
            <a:off x="777240" y="5193792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70" name="Text 13 r4"/>
          <p:cNvSpPr/>
          <p:nvPr/>
        </p:nvSpPr>
        <p:spPr>
          <a:xfrm>
            <a:off x="777240" y="5193792"/>
            <a:ext cx="3749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いまの状況</a:t>
            </a:r>
          </a:p>
        </p:txBody>
      </p:sp>
      <p:sp>
        <p:nvSpPr>
          <p:cNvPr id="971" name="Text 15 r4"/>
          <p:cNvSpPr/>
          <p:nvPr/>
        </p:nvSpPr>
        <p:spPr>
          <a:xfrm>
            <a:off x="4617720" y="5193792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何ができていて、何が課題か？</a:t>
            </a:r>
          </a:p>
        </p:txBody>
      </p:sp>
      <p:cxnSp>
        <p:nvCxnSpPr>
          <p:cNvPr id="972" name="Rule 0 r4"/>
          <p:cNvCxnSpPr/>
          <p:nvPr/>
        </p:nvCxnSpPr>
        <p:spPr>
          <a:xfrm>
            <a:off x="777240" y="5870448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56209" y="1728216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負荷の偏り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1194206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1273759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1244498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</a:t>
            </a:r>
          </a:p>
        </p:txBody>
      </p:sp>
      <p:sp>
        <p:nvSpPr>
          <p:cNvPr id="10" name="Text 8"/>
          <p:cNvSpPr/>
          <p:nvPr/>
        </p:nvSpPr>
        <p:spPr>
          <a:xfrm>
            <a:off x="779983" y="26060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9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一番重い外側タスクが</a:t>
            </a:r>
            <a:br>
              <a:rPr lang="ja-JP" sz="19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9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全体の時間を決める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外側タスクの重さは P の中身で大きく変わる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何スレッドあっても、全体の時間は一番重いタスク 1 個の時間より短くならない（クリティカルパス）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大きなグラフではこの差が広がりうる</a:t>
            </a:r>
          </a:p>
        </p:txBody>
      </p:sp>
      <p:sp>
        <p:nvSpPr>
          <p:cNvPr id="15" name="Text 13"/>
          <p:cNvSpPr/>
          <p:nvPr/>
        </p:nvSpPr>
        <p:spPr>
          <a:xfrm>
            <a:off x="5669280" y="1280160"/>
            <a:ext cx="5760720" cy="4480560"/>
          </a:xfrm>
          <a:prstGeom prst="rect">
            <a:avLst/>
          </a:prstGeom>
          <a:solidFill>
            <a:srgbClr val="F1F5FB"/>
          </a:solidFill>
          <a:ln w="15875">
            <a:solidFill>
              <a:srgbClr val="DCE7FC"/>
            </a:solidFill>
          </a:ln>
        </p:spPr>
        <p:txBody>
          <a:bodyPr wrap="square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ja-JP" sz="1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例グラフの探索木の節点数（実測ではない）</a:t>
            </a:r>
          </a:p>
          <a:p>
            <a:pPr algn="ctr" indent="0" marL="0">
              <a:spcAft>
                <a:spcPts val="20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外側タスクごと（順序 6, 1, 2, 3, 4, 5）</a:t>
            </a:r>
          </a:p>
        </p:txBody>
      </p:sp>
      <p:cxnSp>
        <p:nvCxnSpPr>
          <p:cNvPr id="1950" name="Tree edge 1950"/>
          <p:cNvCxnSpPr/>
          <p:nvPr/>
        </p:nvCxnSpPr>
        <p:spPr>
          <a:xfrm>
            <a:off x="5897880" y="5074920"/>
            <a:ext cx="4983479" cy="0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sp>
        <p:nvSpPr>
          <p:cNvPr id="1951" name="Bar 1951"/>
          <p:cNvSpPr/>
          <p:nvPr/>
        </p:nvSpPr>
        <p:spPr>
          <a:xfrm>
            <a:off x="6126480" y="3246120"/>
            <a:ext cx="548640" cy="1828800"/>
          </a:xfrm>
          <a:prstGeom prst="rect">
            <a:avLst/>
          </a:prstGeom>
          <a:solidFill>
            <a:srgbClr val="A9C2F5"/>
          </a:solidFill>
          <a:ln>
            <a:noFill/>
          </a:ln>
        </p:spPr>
      </p:sp>
      <p:sp>
        <p:nvSpPr>
          <p:cNvPr id="1952" name="Text box 1952"/>
          <p:cNvSpPr txBox="1"/>
          <p:nvPr/>
        </p:nvSpPr>
        <p:spPr>
          <a:xfrm>
            <a:off x="5943600" y="2880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953" name="Text box 1953"/>
          <p:cNvSpPr txBox="1"/>
          <p:nvPr/>
        </p:nvSpPr>
        <p:spPr>
          <a:xfrm>
            <a:off x="5943600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v=6</a:t>
            </a:r>
          </a:p>
        </p:txBody>
      </p:sp>
      <p:sp>
        <p:nvSpPr>
          <p:cNvPr id="1954" name="Bar 1954"/>
          <p:cNvSpPr/>
          <p:nvPr/>
        </p:nvSpPr>
        <p:spPr>
          <a:xfrm>
            <a:off x="7022592" y="2331720"/>
            <a:ext cx="54864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55" name="Text box 1955"/>
          <p:cNvSpPr txBox="1"/>
          <p:nvPr/>
        </p:nvSpPr>
        <p:spPr>
          <a:xfrm>
            <a:off x="6839712" y="1965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956" name="Text box 1956"/>
          <p:cNvSpPr txBox="1"/>
          <p:nvPr/>
        </p:nvSpPr>
        <p:spPr>
          <a:xfrm>
            <a:off x="6839712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v=1</a:t>
            </a:r>
          </a:p>
        </p:txBody>
      </p:sp>
      <p:sp>
        <p:nvSpPr>
          <p:cNvPr id="1957" name="Bar 1957"/>
          <p:cNvSpPr/>
          <p:nvPr/>
        </p:nvSpPr>
        <p:spPr>
          <a:xfrm>
            <a:off x="7918704" y="3246120"/>
            <a:ext cx="548640" cy="1828800"/>
          </a:xfrm>
          <a:prstGeom prst="rect">
            <a:avLst/>
          </a:prstGeom>
          <a:solidFill>
            <a:srgbClr val="A9C2F5"/>
          </a:solidFill>
          <a:ln>
            <a:noFill/>
          </a:ln>
        </p:spPr>
      </p:sp>
      <p:sp>
        <p:nvSpPr>
          <p:cNvPr id="1958" name="Text box 1958"/>
          <p:cNvSpPr txBox="1"/>
          <p:nvPr/>
        </p:nvSpPr>
        <p:spPr>
          <a:xfrm>
            <a:off x="7735824" y="2880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959" name="Text box 1959"/>
          <p:cNvSpPr txBox="1"/>
          <p:nvPr/>
        </p:nvSpPr>
        <p:spPr>
          <a:xfrm>
            <a:off x="7735824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v=2</a:t>
            </a:r>
          </a:p>
        </p:txBody>
      </p:sp>
      <p:sp>
        <p:nvSpPr>
          <p:cNvPr id="1960" name="Bar 1960"/>
          <p:cNvSpPr/>
          <p:nvPr/>
        </p:nvSpPr>
        <p:spPr>
          <a:xfrm>
            <a:off x="8814816" y="3246120"/>
            <a:ext cx="548640" cy="1828800"/>
          </a:xfrm>
          <a:prstGeom prst="rect">
            <a:avLst/>
          </a:prstGeom>
          <a:solidFill>
            <a:srgbClr val="A9C2F5"/>
          </a:solidFill>
          <a:ln>
            <a:noFill/>
          </a:ln>
        </p:spPr>
      </p:sp>
      <p:sp>
        <p:nvSpPr>
          <p:cNvPr id="1961" name="Text box 1961"/>
          <p:cNvSpPr txBox="1"/>
          <p:nvPr/>
        </p:nvSpPr>
        <p:spPr>
          <a:xfrm>
            <a:off x="8631936" y="2880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962" name="Text box 1962"/>
          <p:cNvSpPr txBox="1"/>
          <p:nvPr/>
        </p:nvSpPr>
        <p:spPr>
          <a:xfrm>
            <a:off x="8631936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v=3</a:t>
            </a:r>
          </a:p>
        </p:txBody>
      </p:sp>
      <p:sp>
        <p:nvSpPr>
          <p:cNvPr id="1963" name="Bar 1963"/>
          <p:cNvSpPr/>
          <p:nvPr/>
        </p:nvSpPr>
        <p:spPr>
          <a:xfrm>
            <a:off x="9710928" y="3246120"/>
            <a:ext cx="548640" cy="1828800"/>
          </a:xfrm>
          <a:prstGeom prst="rect">
            <a:avLst/>
          </a:prstGeom>
          <a:solidFill>
            <a:srgbClr val="A9C2F5"/>
          </a:solidFill>
          <a:ln>
            <a:noFill/>
          </a:ln>
        </p:spPr>
      </p:sp>
      <p:sp>
        <p:nvSpPr>
          <p:cNvPr id="1964" name="Text box 1964"/>
          <p:cNvSpPr txBox="1"/>
          <p:nvPr/>
        </p:nvSpPr>
        <p:spPr>
          <a:xfrm>
            <a:off x="9528048" y="2880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965" name="Text box 1965"/>
          <p:cNvSpPr txBox="1"/>
          <p:nvPr/>
        </p:nvSpPr>
        <p:spPr>
          <a:xfrm>
            <a:off x="9528048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v=4</a:t>
            </a:r>
          </a:p>
        </p:txBody>
      </p:sp>
      <p:sp>
        <p:nvSpPr>
          <p:cNvPr id="1966" name="Bar 1966"/>
          <p:cNvSpPr/>
          <p:nvPr/>
        </p:nvSpPr>
        <p:spPr>
          <a:xfrm>
            <a:off x="10607040" y="4160520"/>
            <a:ext cx="548640" cy="914400"/>
          </a:xfrm>
          <a:prstGeom prst="rect">
            <a:avLst/>
          </a:prstGeom>
          <a:solidFill>
            <a:srgbClr val="A9C2F5"/>
          </a:solidFill>
          <a:ln>
            <a:noFill/>
          </a:ln>
        </p:spPr>
      </p:sp>
      <p:sp>
        <p:nvSpPr>
          <p:cNvPr id="1967" name="Text box 1967"/>
          <p:cNvSpPr txBox="1"/>
          <p:nvPr/>
        </p:nvSpPr>
        <p:spPr>
          <a:xfrm>
            <a:off x="10424160" y="379475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6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1968" name="Text box 1968"/>
          <p:cNvSpPr txBox="1"/>
          <p:nvPr/>
        </p:nvSpPr>
        <p:spPr>
          <a:xfrm>
            <a:off x="10424160" y="51480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v=5</a:t>
            </a:r>
          </a:p>
        </p:txBody>
      </p:sp>
      <p:sp>
        <p:nvSpPr>
          <p:cNvPr id="1969" name="Text box 1969"/>
          <p:cNvSpPr txBox="1"/>
          <p:nvPr/>
        </p:nvSpPr>
        <p:spPr>
          <a:xfrm>
            <a:off x="5852160" y="5440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一番重いのは v=1（3 節点）。実測の図は実験スライドで（未記入）</a:t>
            </a:r>
          </a:p>
        </p:txBody>
      </p:sp>
      <p:sp>
        <p:nvSpPr>
          <p:cNvPr id="33" name="Text 3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36853"/>
            <a:ext cx="5896051" cy="5521147"/>
          </a:xfrm>
          <a:custGeom>
            <a:avLst/>
            <a:gdLst/>
            <a:ahLst/>
            <a:cxnLst/>
            <a:rect l="l" t="t" r="r" b="b"/>
            <a:pathLst>
              <a:path w="5896051" h="5521147">
                <a:moveTo>
                  <a:pt x="0" y="0"/>
                </a:moveTo>
                <a:lnTo>
                  <a:pt x="35662" y="16459"/>
                </a:lnTo>
                <a:lnTo>
                  <a:pt x="5176418" y="2987345"/>
                </a:lnTo>
                <a:lnTo>
                  <a:pt x="5896051" y="4229100"/>
                </a:lnTo>
                <a:lnTo>
                  <a:pt x="5896051" y="5521147"/>
                </a:lnTo>
                <a:lnTo>
                  <a:pt x="0" y="5521147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3" name="Shape 1"/>
          <p:cNvSpPr/>
          <p:nvPr/>
        </p:nvSpPr>
        <p:spPr>
          <a:xfrm>
            <a:off x="7227418" y="0"/>
            <a:ext cx="4965192" cy="4919472"/>
          </a:xfrm>
          <a:custGeom>
            <a:avLst/>
            <a:gdLst/>
            <a:ahLst/>
            <a:cxnLst/>
            <a:rect l="l" t="t" r="r" b="b"/>
            <a:pathLst>
              <a:path w="4965192" h="4919472">
                <a:moveTo>
                  <a:pt x="0" y="0"/>
                </a:moveTo>
                <a:lnTo>
                  <a:pt x="4965192" y="0"/>
                </a:lnTo>
                <a:lnTo>
                  <a:pt x="4965192" y="4919472"/>
                </a:lnTo>
                <a:lnTo>
                  <a:pt x="715061" y="2469794"/>
                </a:lnTo>
                <a:lnTo>
                  <a:pt x="0" y="1225296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4" name="Shape 2"/>
          <p:cNvSpPr/>
          <p:nvPr/>
        </p:nvSpPr>
        <p:spPr>
          <a:xfrm>
            <a:off x="5422392" y="1111910"/>
            <a:ext cx="258775" cy="189280"/>
          </a:xfrm>
          <a:custGeom>
            <a:avLst/>
            <a:gdLst/>
            <a:ahLst/>
            <a:cxnLst/>
            <a:rect l="l" t="t" r="r" b="b"/>
            <a:pathLst>
              <a:path w="258775" h="189281">
                <a:moveTo>
                  <a:pt x="128930" y="0"/>
                </a:moveTo>
                <a:lnTo>
                  <a:pt x="258775" y="117043"/>
                </a:lnTo>
                <a:lnTo>
                  <a:pt x="258775" y="189281"/>
                </a:lnTo>
                <a:lnTo>
                  <a:pt x="0" y="189281"/>
                </a:lnTo>
                <a:lnTo>
                  <a:pt x="0" y="117043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733288" y="1022299"/>
            <a:ext cx="1097280" cy="369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ゼミ発表</a:t>
            </a:r>
          </a:p>
        </p:txBody>
      </p:sp>
      <p:sp>
        <p:nvSpPr>
          <p:cNvPr id="6" name="Text 4"/>
          <p:cNvSpPr/>
          <p:nvPr/>
        </p:nvSpPr>
        <p:spPr>
          <a:xfrm>
            <a:off x="371246" y="1554480"/>
            <a:ext cx="114492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40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まとめ：いまの理解</a:t>
            </a:r>
          </a:p>
        </p:txBody>
      </p:sp>
      <p:sp>
        <p:nvSpPr>
          <p:cNvPr id="7" name="Text 5"/>
          <p:cNvSpPr/>
          <p:nvPr/>
        </p:nvSpPr>
        <p:spPr>
          <a:xfrm>
            <a:off x="1463040" y="2560320"/>
            <a:ext cx="9418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：R / P / X で極大クリークを漏れなく・重複なく出す（X が重複を防ぐ）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：ピボットで P∖N(u) だけ分岐。最悪 O(3</a:t>
            </a:r>
            <a:r>
              <a:rPr lang="ja-JP" sz="18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n/3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 は最適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Eppstein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：縮退順序で |P| ≤ d。O(dn·3</a:t>
            </a:r>
            <a:r>
              <a:rPr lang="ja-JP" sz="1800" dirty="0" baseline="30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d/3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 でほぼ最適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並列化</a:t>
            </a: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：各クリークはちょうど 1 つの外側で出る → 外側は独立に並列化できる。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課題は負荷の偏り（重いタスク、P／E コア）</a:t>
            </a:r>
          </a:p>
        </p:txBody>
      </p:sp>
      <p:sp>
        <p:nvSpPr>
          <p:cNvPr id="8" name="Shape 6"/>
          <p:cNvSpPr/>
          <p:nvPr/>
        </p:nvSpPr>
        <p:spPr>
          <a:xfrm>
            <a:off x="5413248" y="5440680"/>
            <a:ext cx="1371600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4688" y="552023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5490972"/>
            <a:ext cx="914400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2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質疑へ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75488" y="8229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 15 節点 → Tomita 10 節点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411480"/>
            <a:ext cx="1737360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6188" y="49103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461772"/>
            <a:ext cx="1371600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 の探索木</a:t>
            </a:r>
          </a:p>
        </p:txBody>
      </p:sp>
      <p:cxnSp>
        <p:nvCxnSpPr>
          <p:cNvPr id="1300" name="Tree edge 1300"/>
          <p:cNvCxnSpPr/>
          <p:nvPr/>
        </p:nvCxnSpPr>
        <p:spPr>
          <a:xfrm flipH="1">
            <a:off x="2304288" y="2633472"/>
            <a:ext cx="4416552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1" name="Tree edge 1301"/>
          <p:cNvCxnSpPr/>
          <p:nvPr/>
        </p:nvCxnSpPr>
        <p:spPr>
          <a:xfrm>
            <a:off x="6720840" y="2633472"/>
            <a:ext cx="315467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2" name="Tree edge 1302"/>
          <p:cNvCxnSpPr/>
          <p:nvPr/>
        </p:nvCxnSpPr>
        <p:spPr>
          <a:xfrm>
            <a:off x="6720840" y="2633472"/>
            <a:ext cx="4101083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3" name="Tree edge 1303"/>
          <p:cNvCxnSpPr/>
          <p:nvPr/>
        </p:nvCxnSpPr>
        <p:spPr>
          <a:xfrm flipH="1">
            <a:off x="1357884" y="3749039"/>
            <a:ext cx="946404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4" name="Tree edge 1304"/>
          <p:cNvCxnSpPr/>
          <p:nvPr/>
        </p:nvCxnSpPr>
        <p:spPr>
          <a:xfrm>
            <a:off x="2304288" y="3749039"/>
            <a:ext cx="946403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5" name="Tree edge 1305"/>
          <p:cNvCxnSpPr/>
          <p:nvPr/>
        </p:nvCxnSpPr>
        <p:spPr>
          <a:xfrm flipH="1">
            <a:off x="5143500" y="3749039"/>
            <a:ext cx="1892807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6" name="Tree edge 1306"/>
          <p:cNvCxnSpPr/>
          <p:nvPr/>
        </p:nvCxnSpPr>
        <p:spPr>
          <a:xfrm>
            <a:off x="7036307" y="3749039"/>
            <a:ext cx="0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7" name="Tree edge 1307"/>
          <p:cNvCxnSpPr/>
          <p:nvPr/>
        </p:nvCxnSpPr>
        <p:spPr>
          <a:xfrm>
            <a:off x="7036307" y="3749039"/>
            <a:ext cx="1892807" cy="219456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308" name="Tree edge 1308"/>
          <p:cNvCxnSpPr/>
          <p:nvPr/>
        </p:nvCxnSpPr>
        <p:spPr>
          <a:xfrm>
            <a:off x="1357884" y="4864608"/>
            <a:ext cx="0" cy="219455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sp>
        <p:nvSpPr>
          <p:cNvPr id="1309" name="Tree node 1309"/>
          <p:cNvSpPr/>
          <p:nvPr/>
        </p:nvSpPr>
        <p:spPr>
          <a:xfrm>
            <a:off x="5577840" y="1737360"/>
            <a:ext cx="2286000" cy="89611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P={1,2,3,4,5,6}　X=∅</a:t>
            </a:r>
          </a:p>
          <a:p>
            <a:pPr algn="ctr">
              <a:lnSpc>
                <a:spcPct val="100000"/>
              </a:lnSpc>
            </a:pPr>
            <a:r>
              <a:rPr lang="ja-JP" sz="12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u=2 → 分岐 {2,4,6}</a:t>
            </a:r>
          </a:p>
        </p:txBody>
      </p:sp>
      <p:sp>
        <p:nvSpPr>
          <p:cNvPr id="1310" name="Tree node 1310"/>
          <p:cNvSpPr/>
          <p:nvPr/>
        </p:nvSpPr>
        <p:spPr>
          <a:xfrm>
            <a:off x="1435608" y="2852928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R={2}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P={1,3,5}　X=∅</a:t>
            </a:r>
          </a:p>
          <a:p>
            <a:pPr algn="ctr">
              <a:lnSpc>
                <a:spcPct val="100000"/>
              </a:lnSpc>
            </a:pPr>
            <a:r>
              <a:rPr lang="ja-JP" sz="12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u=1 → 分岐 {1,3}</a:t>
            </a:r>
          </a:p>
        </p:txBody>
      </p:sp>
      <p:sp>
        <p:nvSpPr>
          <p:cNvPr id="1311" name="Tree node 1311"/>
          <p:cNvSpPr/>
          <p:nvPr/>
        </p:nvSpPr>
        <p:spPr>
          <a:xfrm>
            <a:off x="6167627" y="2852928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P={3,5,6}　X=∅</a:t>
            </a:r>
          </a:p>
          <a:p>
            <a:pPr algn="ctr">
              <a:lnSpc>
                <a:spcPct val="100000"/>
              </a:lnSpc>
            </a:pPr>
            <a:r>
              <a:rPr lang="ja-JP" sz="12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u=3 → 分岐 {3,5,6}</a:t>
            </a:r>
          </a:p>
        </p:txBody>
      </p:sp>
      <p:sp>
        <p:nvSpPr>
          <p:cNvPr id="1312" name="Tree node 1312"/>
          <p:cNvSpPr/>
          <p:nvPr/>
        </p:nvSpPr>
        <p:spPr>
          <a:xfrm>
            <a:off x="9953244" y="2852928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C4C8CE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R={6}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P=∅　X={4}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u=4 → 分岐 ∅</a:t>
            </a:r>
          </a:p>
        </p:txBody>
      </p:sp>
      <p:sp>
        <p:nvSpPr>
          <p:cNvPr id="1313" name="Tree node 1313"/>
          <p:cNvSpPr/>
          <p:nvPr/>
        </p:nvSpPr>
        <p:spPr>
          <a:xfrm>
            <a:off x="489203" y="3968496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R={1,2}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P={5}　X=∅</a:t>
            </a:r>
          </a:p>
          <a:p>
            <a:pPr algn="ctr">
              <a:lnSpc>
                <a:spcPct val="100000"/>
              </a:lnSpc>
            </a:pPr>
            <a:r>
              <a:rPr lang="ja-JP" sz="12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u=5 → 分岐 {5}</a:t>
            </a:r>
          </a:p>
        </p:txBody>
      </p:sp>
      <p:sp>
        <p:nvSpPr>
          <p:cNvPr id="1314" name="Tree node 1314"/>
          <p:cNvSpPr/>
          <p:nvPr/>
        </p:nvSpPr>
        <p:spPr>
          <a:xfrm>
            <a:off x="2382011" y="3968496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R={2,3}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　X=∅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→ 報告</a:t>
            </a:r>
          </a:p>
        </p:txBody>
      </p:sp>
      <p:sp>
        <p:nvSpPr>
          <p:cNvPr id="1315" name="Tree node 1315"/>
          <p:cNvSpPr/>
          <p:nvPr/>
        </p:nvSpPr>
        <p:spPr>
          <a:xfrm>
            <a:off x="4274820" y="3968496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R={3,4}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　X=∅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→ 報告</a:t>
            </a:r>
          </a:p>
        </p:txBody>
      </p:sp>
      <p:sp>
        <p:nvSpPr>
          <p:cNvPr id="1316" name="Tree node 1316"/>
          <p:cNvSpPr/>
          <p:nvPr/>
        </p:nvSpPr>
        <p:spPr>
          <a:xfrm>
            <a:off x="6167627" y="3968496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R={4,5}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　X=∅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→ 報告</a:t>
            </a:r>
          </a:p>
        </p:txBody>
      </p:sp>
      <p:sp>
        <p:nvSpPr>
          <p:cNvPr id="1317" name="Tree node 1317"/>
          <p:cNvSpPr/>
          <p:nvPr/>
        </p:nvSpPr>
        <p:spPr>
          <a:xfrm>
            <a:off x="8060436" y="3968496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R={4,6}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　X=∅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→ 報告</a:t>
            </a:r>
          </a:p>
        </p:txBody>
      </p:sp>
      <p:sp>
        <p:nvSpPr>
          <p:cNvPr id="1318" name="Tree node 1318"/>
          <p:cNvSpPr/>
          <p:nvPr/>
        </p:nvSpPr>
        <p:spPr>
          <a:xfrm>
            <a:off x="489203" y="5084064"/>
            <a:ext cx="1737360" cy="8961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R={1,2,5}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　X=∅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→ 報告</a:t>
            </a:r>
          </a:p>
        </p:txBody>
      </p:sp>
      <p:sp>
        <p:nvSpPr>
          <p:cNvPr id="11" name="Text 9"/>
          <p:cNvSpPr/>
          <p:nvPr/>
        </p:nvSpPr>
        <p:spPr>
          <a:xfrm>
            <a:off x="6675120" y="77724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14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■ 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</a:t>
            </a:r>
            <a:r>
              <a:rPr lang="ja-JP" sz="140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■ 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報告しない（X≠∅）</a:t>
            </a:r>
          </a:p>
          <a:p>
            <a:pPr algn="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u：|P∩N(u)| が最大、同じなら番号の小さい点</a:t>
            </a:r>
          </a:p>
        </p:txBody>
      </p:sp>
      <p:sp>
        <p:nvSpPr>
          <p:cNvPr id="1390" name="Tree note"/>
          <p:cNvSpPr/>
          <p:nvPr/>
        </p:nvSpPr>
        <p:spPr>
          <a:xfrm>
            <a:off x="2743200" y="513892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見つかる極大クリークは BK と同じ 5 個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根では u=2,4,5 が |P∩N(u)|=3 で同点 → 小さい 2 を選ぶ</a:t>
            </a:r>
          </a:p>
        </p:txBody>
      </p:sp>
      <p:sp>
        <p:nvSpPr>
          <p:cNvPr id="30" name="Text 2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94830" y="0"/>
            <a:ext cx="5096866" cy="3429000"/>
          </a:xfrm>
          <a:custGeom>
            <a:avLst/>
            <a:gdLst/>
            <a:ahLst/>
            <a:cxnLst/>
            <a:rect l="l" t="t" r="r" b="b"/>
            <a:pathLst>
              <a:path w="5096866" h="3429000">
                <a:moveTo>
                  <a:pt x="0" y="0"/>
                </a:moveTo>
                <a:lnTo>
                  <a:pt x="5096866" y="0"/>
                </a:lnTo>
                <a:lnTo>
                  <a:pt x="5096866" y="2486254"/>
                </a:lnTo>
                <a:lnTo>
                  <a:pt x="3629254" y="3332988"/>
                </a:lnTo>
                <a:lnTo>
                  <a:pt x="2915107" y="3332988"/>
                </a:lnTo>
                <a:lnTo>
                  <a:pt x="356616" y="1855318"/>
                </a:lnTo>
                <a:lnTo>
                  <a:pt x="0" y="1238098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096866" y="652882"/>
            <a:ext cx="6208776" cy="6205118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5" name="Shape 3"/>
          <p:cNvSpPr/>
          <p:nvPr/>
        </p:nvSpPr>
        <p:spPr>
          <a:xfrm>
            <a:off x="789127" y="233629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24158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238658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第2部</a:t>
            </a:r>
          </a:p>
        </p:txBody>
      </p:sp>
      <p:sp>
        <p:nvSpPr>
          <p:cNvPr id="8" name="Text 6"/>
          <p:cNvSpPr/>
          <p:nvPr/>
        </p:nvSpPr>
        <p:spPr>
          <a:xfrm>
            <a:off x="737006" y="2880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4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並列化</a:t>
            </a:r>
          </a:p>
        </p:txBody>
      </p:sp>
      <p:sp>
        <p:nvSpPr>
          <p:cNvPr id="9" name="Text 7"/>
          <p:cNvSpPr/>
          <p:nvPr/>
        </p:nvSpPr>
        <p:spPr>
          <a:xfrm>
            <a:off x="787298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sz="2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外側ループを並列に動かす</a:t>
            </a:r>
          </a:p>
        </p:txBody>
      </p:sp>
      <p:sp>
        <p:nvSpPr>
          <p:cNvPr id="20" name="Text 1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8950" y="3291840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4309567" y="799186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Text 4"/>
          <p:cNvSpPr/>
          <p:nvPr/>
        </p:nvSpPr>
        <p:spPr>
          <a:xfrm>
            <a:off x="756209" y="2589581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実装の方針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2055571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213512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2105863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</a:t>
            </a:r>
          </a:p>
        </p:txBody>
      </p:sp>
      <p:sp>
        <p:nvSpPr>
          <p:cNvPr id="15" name="Shape 13"/>
          <p:cNvSpPr/>
          <p:nvPr/>
        </p:nvSpPr>
        <p:spPr>
          <a:xfrm>
            <a:off x="6512357" y="1235354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7651" y="1215237"/>
            <a:ext cx="448056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共有するもの</a:t>
            </a:r>
          </a:p>
        </p:txBody>
      </p:sp>
      <p:sp>
        <p:nvSpPr>
          <p:cNvPr id="24" name="Text 22"/>
          <p:cNvSpPr/>
          <p:nvPr/>
        </p:nvSpPr>
        <p:spPr>
          <a:xfrm>
            <a:off x="7283196" y="181051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グラフ（隣接リスト）と縮退順序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読むだけ、書き換えない</a:t>
            </a:r>
          </a:p>
        </p:txBody>
      </p:sp>
      <p:sp>
        <p:nvSpPr>
          <p:cNvPr id="25" name="Shape 23"/>
          <p:cNvSpPr/>
          <p:nvPr/>
        </p:nvSpPr>
        <p:spPr>
          <a:xfrm>
            <a:off x="7513625" y="3728009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69833" y="3707891"/>
            <a:ext cx="365760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タスクごと</a:t>
            </a:r>
          </a:p>
        </p:txBody>
      </p:sp>
      <p:sp>
        <p:nvSpPr>
          <p:cNvPr id="32" name="Text 30"/>
          <p:cNvSpPr/>
          <p:nvPr/>
        </p:nvSpPr>
        <p:spPr>
          <a:xfrm>
            <a:off x="8285378" y="4297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/ P / X などの局所状態と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結果リスト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7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自分のものだけ書く</a:t>
            </a:r>
          </a:p>
        </p:txBody>
      </p:sp>
      <p:sp>
        <p:nvSpPr>
          <p:cNvPr id="1900" name="Conclusion"/>
          <p:cNvSpPr/>
          <p:nvPr/>
        </p:nvSpPr>
        <p:spPr>
          <a:xfrm>
            <a:off x="795528" y="34747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9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書き込みが重ならない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9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ロック不要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最後に結果をまとめるだけ</a:t>
            </a:r>
          </a:p>
        </p:txBody>
      </p:sp>
      <p:sp>
        <p:nvSpPr>
          <p:cNvPr id="33" name="Text 3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8202" y="5126126"/>
            <a:ext cx="3863340" cy="1731874"/>
          </a:xfrm>
          <a:custGeom>
            <a:avLst/>
            <a:gdLst/>
            <a:ahLst/>
            <a:cxnLst/>
            <a:rect l="l" t="t" r="r" b="b"/>
            <a:pathLst>
              <a:path w="3863340" h="1731874">
                <a:moveTo>
                  <a:pt x="1931213" y="0"/>
                </a:moveTo>
                <a:lnTo>
                  <a:pt x="2140610" y="57607"/>
                </a:lnTo>
                <a:lnTo>
                  <a:pt x="3654857" y="928116"/>
                </a:lnTo>
                <a:lnTo>
                  <a:pt x="3863340" y="1143000"/>
                </a:lnTo>
                <a:lnTo>
                  <a:pt x="3863340" y="1731874"/>
                </a:lnTo>
                <a:lnTo>
                  <a:pt x="0" y="1731874"/>
                </a:lnTo>
                <a:lnTo>
                  <a:pt x="0" y="1143000"/>
                </a:lnTo>
                <a:lnTo>
                  <a:pt x="208483" y="928116"/>
                </a:lnTo>
                <a:lnTo>
                  <a:pt x="1722730" y="57607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5627218" y="1548079"/>
            <a:ext cx="3863340" cy="4330598"/>
          </a:xfrm>
          <a:custGeom>
            <a:avLst/>
            <a:gdLst/>
            <a:ahLst/>
            <a:cxnLst/>
            <a:rect l="l" t="t" r="r" b="b"/>
            <a:pathLst>
              <a:path w="3863340" h="4330598">
                <a:moveTo>
                  <a:pt x="1931213" y="0"/>
                </a:moveTo>
                <a:lnTo>
                  <a:pt x="2140610" y="56693"/>
                </a:lnTo>
                <a:lnTo>
                  <a:pt x="3654857" y="927202"/>
                </a:lnTo>
                <a:lnTo>
                  <a:pt x="3863340" y="1294790"/>
                </a:lnTo>
                <a:lnTo>
                  <a:pt x="3863340" y="3035808"/>
                </a:lnTo>
                <a:lnTo>
                  <a:pt x="3654857" y="3403397"/>
                </a:lnTo>
                <a:lnTo>
                  <a:pt x="2140610" y="4273906"/>
                </a:lnTo>
                <a:lnTo>
                  <a:pt x="1722730" y="4273906"/>
                </a:lnTo>
                <a:lnTo>
                  <a:pt x="208483" y="3403397"/>
                </a:lnTo>
                <a:lnTo>
                  <a:pt x="0" y="3035808"/>
                </a:lnTo>
                <a:lnTo>
                  <a:pt x="0" y="1294790"/>
                </a:lnTo>
                <a:lnTo>
                  <a:pt x="208483" y="927202"/>
                </a:lnTo>
                <a:lnTo>
                  <a:pt x="1722730" y="56693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Shape 4"/>
          <p:cNvSpPr/>
          <p:nvPr/>
        </p:nvSpPr>
        <p:spPr>
          <a:xfrm>
            <a:off x="7805318" y="0"/>
            <a:ext cx="3863340" cy="2300630"/>
          </a:xfrm>
          <a:custGeom>
            <a:avLst/>
            <a:gdLst/>
            <a:ahLst/>
            <a:cxnLst/>
            <a:rect l="l" t="t" r="r" b="b"/>
            <a:pathLst>
              <a:path w="3863340" h="2300630">
                <a:moveTo>
                  <a:pt x="0" y="0"/>
                </a:moveTo>
                <a:lnTo>
                  <a:pt x="3863340" y="0"/>
                </a:lnTo>
                <a:lnTo>
                  <a:pt x="3863340" y="1007669"/>
                </a:lnTo>
                <a:lnTo>
                  <a:pt x="3654857" y="1371600"/>
                </a:lnTo>
                <a:lnTo>
                  <a:pt x="2140610" y="2245766"/>
                </a:lnTo>
                <a:lnTo>
                  <a:pt x="1722730" y="2245766"/>
                </a:lnTo>
                <a:lnTo>
                  <a:pt x="208483" y="1371600"/>
                </a:lnTo>
                <a:lnTo>
                  <a:pt x="0" y="1007669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89127" y="117409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2396" y="125364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8311" y="122438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計画</a:t>
            </a:r>
          </a:p>
        </p:txBody>
      </p:sp>
      <p:sp>
        <p:nvSpPr>
          <p:cNvPr id="19" name="Text 17"/>
          <p:cNvSpPr/>
          <p:nvPr/>
        </p:nvSpPr>
        <p:spPr>
          <a:xfrm>
            <a:off x="756209" y="1691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今後の計画</a:t>
            </a:r>
          </a:p>
        </p:txBody>
      </p:sp>
      <p:sp>
        <p:nvSpPr>
          <p:cNvPr id="20" name="Text 18"/>
          <p:cNvSpPr/>
          <p:nvPr/>
        </p:nvSpPr>
        <p:spPr>
          <a:xfrm>
            <a:off x="775411" y="27432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700" dirty="0" b="1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（未記入）月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：偏りの対策</a:t>
            </a:r>
            <a:b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5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（動的な割り当て、重いタスクの内側分割）</a:t>
            </a:r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700" dirty="0" b="1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（未記入）月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：追加実験・比較</a:t>
            </a:r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700" dirty="0" b="1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（未記入）月〜</a:t>
            </a:r>
            <a:r>
              <a:rPr lang="ja-JP" sz="17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：卒論執筆</a:t>
            </a:r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ja-JP" sz="16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うまくいかないときの代替案：</a:t>
            </a:r>
            <a:r>
              <a:rPr lang="ja-JP" sz="16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</a:t>
            </a:r>
          </a:p>
        </p:txBody>
      </p:sp>
      <p:sp>
        <p:nvSpPr>
          <p:cNvPr id="25" name="Text 23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94830" y="0"/>
            <a:ext cx="5096866" cy="3429000"/>
          </a:xfrm>
          <a:custGeom>
            <a:avLst/>
            <a:gdLst/>
            <a:ahLst/>
            <a:cxnLst/>
            <a:rect l="l" t="t" r="r" b="b"/>
            <a:pathLst>
              <a:path w="5096866" h="3429000">
                <a:moveTo>
                  <a:pt x="0" y="0"/>
                </a:moveTo>
                <a:lnTo>
                  <a:pt x="5096866" y="0"/>
                </a:lnTo>
                <a:lnTo>
                  <a:pt x="5096866" y="2486254"/>
                </a:lnTo>
                <a:lnTo>
                  <a:pt x="3629254" y="3332988"/>
                </a:lnTo>
                <a:lnTo>
                  <a:pt x="2915107" y="3332988"/>
                </a:lnTo>
                <a:lnTo>
                  <a:pt x="356616" y="1855318"/>
                </a:lnTo>
                <a:lnTo>
                  <a:pt x="0" y="1238098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096866" y="652882"/>
            <a:ext cx="6208776" cy="6205118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5" name="Shape 3"/>
          <p:cNvSpPr/>
          <p:nvPr/>
        </p:nvSpPr>
        <p:spPr>
          <a:xfrm>
            <a:off x="789127" y="233629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24158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238658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</a:t>
            </a:r>
          </a:p>
        </p:txBody>
      </p:sp>
      <p:sp>
        <p:nvSpPr>
          <p:cNvPr id="8" name="Text 6"/>
          <p:cNvSpPr/>
          <p:nvPr/>
        </p:nvSpPr>
        <p:spPr>
          <a:xfrm>
            <a:off x="737006" y="2880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4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</a:t>
            </a:r>
          </a:p>
        </p:txBody>
      </p:sp>
      <p:sp>
        <p:nvSpPr>
          <p:cNvPr id="9" name="Text 7"/>
          <p:cNvSpPr/>
          <p:nvPr/>
        </p:nvSpPr>
        <p:spPr>
          <a:xfrm>
            <a:off x="787298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18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 A–E</a:t>
            </a:r>
          </a:p>
        </p:txBody>
      </p:sp>
      <p:sp>
        <p:nvSpPr>
          <p:cNvPr id="20" name="Text 1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8838" y="0"/>
            <a:ext cx="5033772" cy="4152290"/>
          </a:xfrm>
          <a:custGeom>
            <a:avLst/>
            <a:gdLst/>
            <a:ahLst/>
            <a:cxnLst/>
            <a:rect l="l" t="t" r="r" b="b"/>
            <a:pathLst>
              <a:path w="5033772" h="4152290">
                <a:moveTo>
                  <a:pt x="0" y="0"/>
                </a:moveTo>
                <a:lnTo>
                  <a:pt x="5033772" y="0"/>
                </a:lnTo>
                <a:lnTo>
                  <a:pt x="5033772" y="3396996"/>
                </a:lnTo>
                <a:lnTo>
                  <a:pt x="3900830" y="4048049"/>
                </a:lnTo>
                <a:lnTo>
                  <a:pt x="3130906" y="4048049"/>
                </a:lnTo>
                <a:lnTo>
                  <a:pt x="382219" y="2462479"/>
                </a:lnTo>
                <a:lnTo>
                  <a:pt x="0" y="1797710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194706" y="508406"/>
            <a:ext cx="5549494" cy="6349594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822960"/>
            <a:ext cx="48463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200"/>
              </a:spcAft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A.  BK の正しさの詳細</a:t>
            </a:r>
          </a:p>
          <a:p>
            <a:pPr algn="l" indent="0" marL="0">
              <a:spcAft>
                <a:spcPts val="2200"/>
              </a:spcAft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B.  ピボットの探索木 → 本編 p.14</a:t>
            </a:r>
          </a:p>
          <a:p>
            <a:pPr algn="l" indent="0" marL="0">
              <a:spcAft>
                <a:spcPts val="2200"/>
              </a:spcAft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C.  Moon–Moser → 本編 p.15</a:t>
            </a:r>
          </a:p>
        </p:txBody>
      </p:sp>
      <p:sp>
        <p:nvSpPr>
          <p:cNvPr id="5" name="Shape 3"/>
          <p:cNvSpPr/>
          <p:nvPr/>
        </p:nvSpPr>
        <p:spPr>
          <a:xfrm>
            <a:off x="789127" y="1040587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120140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1090879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</a:t>
            </a:r>
          </a:p>
        </p:txBody>
      </p:sp>
      <p:sp>
        <p:nvSpPr>
          <p:cNvPr id="8" name="Text 6"/>
          <p:cNvSpPr/>
          <p:nvPr/>
        </p:nvSpPr>
        <p:spPr>
          <a:xfrm>
            <a:off x="756209" y="15727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 A–C</a:t>
            </a:r>
          </a:p>
        </p:txBody>
      </p:sp>
      <p:sp>
        <p:nvSpPr>
          <p:cNvPr id="19" name="Text 17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29707" y="443941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8425282" y="-772668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6" name="Shape 4"/>
          <p:cNvSpPr/>
          <p:nvPr/>
        </p:nvSpPr>
        <p:spPr>
          <a:xfrm>
            <a:off x="6923837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8" name="Shape 6"/>
          <p:cNvSpPr/>
          <p:nvPr/>
        </p:nvSpPr>
        <p:spPr>
          <a:xfrm>
            <a:off x="9919411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10" name="Shape 8"/>
          <p:cNvSpPr/>
          <p:nvPr/>
        </p:nvSpPr>
        <p:spPr>
          <a:xfrm>
            <a:off x="7944307" y="4700930"/>
            <a:ext cx="865022" cy="969264"/>
          </a:xfrm>
          <a:custGeom>
            <a:avLst/>
            <a:gdLst/>
            <a:ahLst/>
            <a:cxnLst/>
            <a:rect l="l" t="t" r="r" b="b"/>
            <a:pathLst>
              <a:path w="865022" h="969264">
                <a:moveTo>
                  <a:pt x="432511" y="0"/>
                </a:moveTo>
                <a:lnTo>
                  <a:pt x="479146" y="12802"/>
                </a:lnTo>
                <a:lnTo>
                  <a:pt x="818388" y="207569"/>
                </a:lnTo>
                <a:lnTo>
                  <a:pt x="865022" y="289865"/>
                </a:lnTo>
                <a:lnTo>
                  <a:pt x="865022" y="679399"/>
                </a:lnTo>
                <a:lnTo>
                  <a:pt x="818388" y="761695"/>
                </a:lnTo>
                <a:lnTo>
                  <a:pt x="479146" y="956462"/>
                </a:lnTo>
                <a:lnTo>
                  <a:pt x="385877" y="956462"/>
                </a:lnTo>
                <a:lnTo>
                  <a:pt x="46634" y="761695"/>
                </a:lnTo>
                <a:lnTo>
                  <a:pt x="0" y="679399"/>
                </a:lnTo>
                <a:lnTo>
                  <a:pt x="0" y="289865"/>
                </a:lnTo>
                <a:lnTo>
                  <a:pt x="46634" y="207569"/>
                </a:lnTo>
                <a:lnTo>
                  <a:pt x="385877" y="12802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4522" y="5071262"/>
            <a:ext cx="164592" cy="2057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94522" y="5279288"/>
            <a:ext cx="164592" cy="2057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 rot="2280000">
            <a:off x="8308238" y="5174132"/>
            <a:ext cx="164592" cy="2057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 rot="-2280000">
            <a:off x="8280806" y="5174132"/>
            <a:ext cx="164592" cy="2057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1098" y="5164988"/>
            <a:ext cx="91440" cy="1600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7382" y="5119268"/>
            <a:ext cx="118872" cy="1600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7382" y="5235854"/>
            <a:ext cx="118872" cy="1600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56209" y="161300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 D–E</a:t>
            </a:r>
          </a:p>
        </p:txBody>
      </p:sp>
      <p:sp>
        <p:nvSpPr>
          <p:cNvPr id="21" name="Shape 19"/>
          <p:cNvSpPr/>
          <p:nvPr/>
        </p:nvSpPr>
        <p:spPr>
          <a:xfrm>
            <a:off x="789127" y="107899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2396" y="11585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" y="112928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補足</a:t>
            </a:r>
          </a:p>
        </p:txBody>
      </p:sp>
      <p:sp>
        <p:nvSpPr>
          <p:cNvPr id="24" name="Text 22"/>
          <p:cNvSpPr/>
          <p:nvPr/>
        </p:nvSpPr>
        <p:spPr>
          <a:xfrm>
            <a:off x="779983" y="2651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D.  測定の詳細・環境</a:t>
            </a:r>
          </a:p>
          <a:p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ja-JP" sz="2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E.  関連研究メモ（並列BK / ParMCE 等）</a:t>
            </a:r>
          </a:p>
        </p:txBody>
      </p:sp>
      <p:sp>
        <p:nvSpPr>
          <p:cNvPr id="29" name="Shape 27"/>
          <p:cNvSpPr/>
          <p:nvPr/>
        </p:nvSpPr>
        <p:spPr>
          <a:xfrm>
            <a:off x="9415577" y="2088490"/>
            <a:ext cx="865022" cy="969264"/>
          </a:xfrm>
          <a:custGeom>
            <a:avLst/>
            <a:gdLst/>
            <a:ahLst/>
            <a:cxnLst/>
            <a:rect l="l" t="t" r="r" b="b"/>
            <a:pathLst>
              <a:path w="865022" h="969264">
                <a:moveTo>
                  <a:pt x="432511" y="0"/>
                </a:moveTo>
                <a:lnTo>
                  <a:pt x="479146" y="12802"/>
                </a:lnTo>
                <a:lnTo>
                  <a:pt x="818388" y="207569"/>
                </a:lnTo>
                <a:lnTo>
                  <a:pt x="865022" y="289865"/>
                </a:lnTo>
                <a:lnTo>
                  <a:pt x="865022" y="679399"/>
                </a:lnTo>
                <a:lnTo>
                  <a:pt x="818388" y="761695"/>
                </a:lnTo>
                <a:lnTo>
                  <a:pt x="479146" y="956462"/>
                </a:lnTo>
                <a:lnTo>
                  <a:pt x="385877" y="956462"/>
                </a:lnTo>
                <a:lnTo>
                  <a:pt x="46634" y="761695"/>
                </a:lnTo>
                <a:lnTo>
                  <a:pt x="0" y="679399"/>
                </a:lnTo>
                <a:lnTo>
                  <a:pt x="0" y="289865"/>
                </a:lnTo>
                <a:lnTo>
                  <a:pt x="46634" y="207569"/>
                </a:lnTo>
                <a:lnTo>
                  <a:pt x="385877" y="12802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79508" y="2458822"/>
            <a:ext cx="137160" cy="228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811512" y="2477110"/>
            <a:ext cx="16002" cy="6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868662" y="2477110"/>
            <a:ext cx="16002" cy="6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752076" y="2536546"/>
            <a:ext cx="141732" cy="150876"/>
          </a:xfrm>
          <a:custGeom>
            <a:avLst/>
            <a:gdLst/>
            <a:ahLst/>
            <a:cxnLst/>
            <a:rect l="l" t="t" r="r" b="b"/>
            <a:pathLst>
              <a:path w="141732" h="150876">
                <a:moveTo>
                  <a:pt x="39319" y="0"/>
                </a:moveTo>
                <a:lnTo>
                  <a:pt x="102413" y="0"/>
                </a:lnTo>
                <a:lnTo>
                  <a:pt x="141732" y="117958"/>
                </a:lnTo>
                <a:lnTo>
                  <a:pt x="121615" y="150876"/>
                </a:lnTo>
                <a:lnTo>
                  <a:pt x="20117" y="150876"/>
                </a:lnTo>
                <a:lnTo>
                  <a:pt x="0" y="1179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880092" y="2595982"/>
            <a:ext cx="82296" cy="822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75488" y="8229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全部で 15 節点、報告は 5 つ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411480"/>
            <a:ext cx="1371600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6188" y="49103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461772"/>
            <a:ext cx="1097280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 の探索木</a:t>
            </a:r>
          </a:p>
        </p:txBody>
      </p:sp>
      <p:cxnSp>
        <p:nvCxnSpPr>
          <p:cNvPr id="1000" name="Tree edge 1000"/>
          <p:cNvCxnSpPr/>
          <p:nvPr/>
        </p:nvCxnSpPr>
        <p:spPr>
          <a:xfrm flipH="1">
            <a:off x="1673351" y="2496312"/>
            <a:ext cx="5152643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1" name="Tree edge 1001"/>
          <p:cNvCxnSpPr/>
          <p:nvPr/>
        </p:nvCxnSpPr>
        <p:spPr>
          <a:xfrm flipH="1">
            <a:off x="4197096" y="2496312"/>
            <a:ext cx="2628899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2" name="Tree edge 1002"/>
          <p:cNvCxnSpPr/>
          <p:nvPr/>
        </p:nvCxnSpPr>
        <p:spPr>
          <a:xfrm flipH="1">
            <a:off x="6089903" y="2496312"/>
            <a:ext cx="736091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3" name="Tree edge 1003"/>
          <p:cNvCxnSpPr/>
          <p:nvPr/>
        </p:nvCxnSpPr>
        <p:spPr>
          <a:xfrm>
            <a:off x="6825995" y="2496312"/>
            <a:ext cx="1156715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4" name="Tree edge 1004"/>
          <p:cNvCxnSpPr/>
          <p:nvPr/>
        </p:nvCxnSpPr>
        <p:spPr>
          <a:xfrm>
            <a:off x="6825995" y="2496312"/>
            <a:ext cx="3049524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5" name="Tree edge 1005"/>
          <p:cNvCxnSpPr/>
          <p:nvPr/>
        </p:nvCxnSpPr>
        <p:spPr>
          <a:xfrm>
            <a:off x="6825995" y="2496312"/>
            <a:ext cx="4311395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6" name="Tree edge 1006"/>
          <p:cNvCxnSpPr/>
          <p:nvPr/>
        </p:nvCxnSpPr>
        <p:spPr>
          <a:xfrm flipH="1">
            <a:off x="1042415" y="3593591"/>
            <a:ext cx="630936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7" name="Tree edge 1007"/>
          <p:cNvCxnSpPr/>
          <p:nvPr/>
        </p:nvCxnSpPr>
        <p:spPr>
          <a:xfrm>
            <a:off x="1673351" y="3593591"/>
            <a:ext cx="630936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8" name="Tree edge 1008"/>
          <p:cNvCxnSpPr/>
          <p:nvPr/>
        </p:nvCxnSpPr>
        <p:spPr>
          <a:xfrm flipH="1">
            <a:off x="3566160" y="3593591"/>
            <a:ext cx="630936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09" name="Tree edge 1009"/>
          <p:cNvCxnSpPr/>
          <p:nvPr/>
        </p:nvCxnSpPr>
        <p:spPr>
          <a:xfrm>
            <a:off x="4197096" y="3593591"/>
            <a:ext cx="630936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10" name="Tree edge 1010"/>
          <p:cNvCxnSpPr/>
          <p:nvPr/>
        </p:nvCxnSpPr>
        <p:spPr>
          <a:xfrm>
            <a:off x="6089903" y="3593591"/>
            <a:ext cx="0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11" name="Tree edge 1011"/>
          <p:cNvCxnSpPr/>
          <p:nvPr/>
        </p:nvCxnSpPr>
        <p:spPr>
          <a:xfrm flipH="1">
            <a:off x="7351775" y="3593591"/>
            <a:ext cx="630935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12" name="Tree edge 1012"/>
          <p:cNvCxnSpPr/>
          <p:nvPr/>
        </p:nvCxnSpPr>
        <p:spPr>
          <a:xfrm>
            <a:off x="7982711" y="3593591"/>
            <a:ext cx="630935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cxnSp>
        <p:nvCxnSpPr>
          <p:cNvPr id="1013" name="Tree edge 1013"/>
          <p:cNvCxnSpPr/>
          <p:nvPr/>
        </p:nvCxnSpPr>
        <p:spPr>
          <a:xfrm>
            <a:off x="1042415" y="4690872"/>
            <a:ext cx="0" cy="384047"/>
          </a:xfrm>
          <a:prstGeom prst="line">
            <a:avLst/>
          </a:prstGeom>
          <a:ln w="12700">
            <a:solidFill>
              <a:srgbClr val="9CA3AF"/>
            </a:solidFill>
          </a:ln>
        </p:spPr>
      </p:cxnSp>
      <p:sp>
        <p:nvSpPr>
          <p:cNvPr id="1014" name="Tree node 1014"/>
          <p:cNvSpPr/>
          <p:nvPr/>
        </p:nvSpPr>
        <p:spPr>
          <a:xfrm>
            <a:off x="5911595" y="178308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P={1,2,3,4,5,6}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15" name="Tree node 1015"/>
          <p:cNvSpPr/>
          <p:nvPr/>
        </p:nvSpPr>
        <p:spPr>
          <a:xfrm>
            <a:off x="1078991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R={1}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P={2,5}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16" name="Tree node 1016"/>
          <p:cNvSpPr/>
          <p:nvPr/>
        </p:nvSpPr>
        <p:spPr>
          <a:xfrm>
            <a:off x="3602736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R={2}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P={3,5}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X={1}</a:t>
            </a:r>
          </a:p>
        </p:txBody>
      </p:sp>
      <p:sp>
        <p:nvSpPr>
          <p:cNvPr id="1017" name="Tree node 1017"/>
          <p:cNvSpPr/>
          <p:nvPr/>
        </p:nvSpPr>
        <p:spPr>
          <a:xfrm>
            <a:off x="5495543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R={3}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X={2}</a:t>
            </a:r>
          </a:p>
        </p:txBody>
      </p:sp>
      <p:sp>
        <p:nvSpPr>
          <p:cNvPr id="1018" name="Tree node 1018"/>
          <p:cNvSpPr/>
          <p:nvPr/>
        </p:nvSpPr>
        <p:spPr>
          <a:xfrm>
            <a:off x="7388351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P={5,6}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X={3}</a:t>
            </a:r>
          </a:p>
        </p:txBody>
      </p:sp>
      <p:sp>
        <p:nvSpPr>
          <p:cNvPr id="1019" name="Tree node 1019"/>
          <p:cNvSpPr/>
          <p:nvPr/>
        </p:nvSpPr>
        <p:spPr>
          <a:xfrm>
            <a:off x="9281159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C4C8CE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R={5}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X={1,2,4}</a:t>
            </a:r>
          </a:p>
        </p:txBody>
      </p:sp>
      <p:sp>
        <p:nvSpPr>
          <p:cNvPr id="1020" name="Tree node 1020"/>
          <p:cNvSpPr/>
          <p:nvPr/>
        </p:nvSpPr>
        <p:spPr>
          <a:xfrm>
            <a:off x="10543031" y="288036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C4C8CE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R={6}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X={4}</a:t>
            </a:r>
          </a:p>
        </p:txBody>
      </p:sp>
      <p:sp>
        <p:nvSpPr>
          <p:cNvPr id="1021" name="Tree node 1021"/>
          <p:cNvSpPr/>
          <p:nvPr/>
        </p:nvSpPr>
        <p:spPr>
          <a:xfrm>
            <a:off x="448055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R={1,2}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P={5}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22" name="Tree node 1022"/>
          <p:cNvSpPr/>
          <p:nvPr/>
        </p:nvSpPr>
        <p:spPr>
          <a:xfrm>
            <a:off x="1709928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C4C8CE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R={1,5}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X={2}</a:t>
            </a:r>
          </a:p>
        </p:txBody>
      </p:sp>
      <p:sp>
        <p:nvSpPr>
          <p:cNvPr id="1023" name="Tree node 1023"/>
          <p:cNvSpPr/>
          <p:nvPr/>
        </p:nvSpPr>
        <p:spPr>
          <a:xfrm>
            <a:off x="2971800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R={2,3}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24" name="Tree node 1024"/>
          <p:cNvSpPr/>
          <p:nvPr/>
        </p:nvSpPr>
        <p:spPr>
          <a:xfrm>
            <a:off x="4233672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C4C8CE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R={2,5}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X={1}</a:t>
            </a:r>
          </a:p>
        </p:txBody>
      </p:sp>
      <p:sp>
        <p:nvSpPr>
          <p:cNvPr id="1025" name="Tree node 1025"/>
          <p:cNvSpPr/>
          <p:nvPr/>
        </p:nvSpPr>
        <p:spPr>
          <a:xfrm>
            <a:off x="5495543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R={3,4}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26" name="Tree node 1026"/>
          <p:cNvSpPr/>
          <p:nvPr/>
        </p:nvSpPr>
        <p:spPr>
          <a:xfrm>
            <a:off x="6757415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R={4,5}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27" name="Tree node 1027"/>
          <p:cNvSpPr/>
          <p:nvPr/>
        </p:nvSpPr>
        <p:spPr>
          <a:xfrm>
            <a:off x="8019287" y="3977639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R={4,6}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028" name="Tree node 1028"/>
          <p:cNvSpPr/>
          <p:nvPr/>
        </p:nvSpPr>
        <p:spPr>
          <a:xfrm>
            <a:off x="448055" y="5074920"/>
            <a:ext cx="11887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R={1,2,5}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P=∅</a:t>
            </a:r>
          </a:p>
          <a:p>
            <a:pPr algn="ctr">
              <a:lnSpc>
                <a:spcPct val="100000"/>
              </a:lnSpc>
            </a:pPr>
            <a:r>
              <a:rPr lang="ja-JP" sz="12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X=∅</a:t>
            </a:r>
          </a:p>
        </p:txBody>
      </p:sp>
      <p:sp>
        <p:nvSpPr>
          <p:cNvPr id="11" name="Text 9"/>
          <p:cNvSpPr/>
          <p:nvPr/>
        </p:nvSpPr>
        <p:spPr>
          <a:xfrm>
            <a:off x="6400800" y="7772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1400" dirty="0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■ 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報告（P=∅ かつ X=∅）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</a:t>
            </a:r>
            <a:r>
              <a:rPr lang="ja-JP" sz="140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■ </a:t>
            </a: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報告しない（X≠∅）</a:t>
            </a:r>
          </a:p>
          <a:p>
            <a:pPr algn="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左から順に調べる（BK、ピボットなし）</a:t>
            </a:r>
          </a:p>
        </p:txBody>
      </p:sp>
      <p:sp>
        <p:nvSpPr>
          <p:cNvPr id="1090" name="Tree note"/>
          <p:cNvSpPr/>
          <p:nvPr/>
        </p:nvSpPr>
        <p:spPr>
          <a:xfrm>
            <a:off x="7223760" y="51663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調べ終えた点は X に入るので、</a:t>
            </a:r>
            <a:b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後の枝には X が付く</a:t>
            </a:r>
          </a:p>
        </p:txBody>
      </p:sp>
      <p:sp>
        <p:nvSpPr>
          <p:cNvPr id="30" name="Text 28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29707" y="443941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8425282" y="-772668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6" name="Shape 4"/>
          <p:cNvSpPr/>
          <p:nvPr/>
        </p:nvSpPr>
        <p:spPr>
          <a:xfrm>
            <a:off x="6923837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1100" name="Leaves in hex"/>
          <p:cNvSpPr/>
          <p:nvPr/>
        </p:nvSpPr>
        <p:spPr>
          <a:xfrm>
            <a:off x="6923836" y="1833372"/>
            <a:ext cx="2846527" cy="3150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P=∅ だが X≠∅ の葉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R={1,5}　X={2}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R={2,5}　X={1}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R={5}　X={1,2,4}</a:t>
            </a:r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R={6}　X={4}</a:t>
            </a:r>
          </a:p>
        </p:txBody>
      </p:sp>
      <p:sp>
        <p:nvSpPr>
          <p:cNvPr id="8" name="Shape 6"/>
          <p:cNvSpPr/>
          <p:nvPr/>
        </p:nvSpPr>
        <p:spPr>
          <a:xfrm>
            <a:off x="9919411" y="1833372"/>
            <a:ext cx="2846527" cy="3150108"/>
          </a:xfrm>
          <a:custGeom>
            <a:avLst/>
            <a:gdLst/>
            <a:ahLst/>
            <a:cxnLst/>
            <a:rect l="l" t="t" r="r" b="b"/>
            <a:pathLst>
              <a:path w="2846527" h="3150108">
                <a:moveTo>
                  <a:pt x="1422806" y="0"/>
                </a:moveTo>
                <a:lnTo>
                  <a:pt x="1577340" y="41148"/>
                </a:lnTo>
                <a:lnTo>
                  <a:pt x="2692908" y="673913"/>
                </a:lnTo>
                <a:lnTo>
                  <a:pt x="2846527" y="941832"/>
                </a:lnTo>
                <a:lnTo>
                  <a:pt x="2846527" y="2208276"/>
                </a:lnTo>
                <a:lnTo>
                  <a:pt x="2692908" y="2476195"/>
                </a:lnTo>
                <a:lnTo>
                  <a:pt x="1577340" y="3108960"/>
                </a:lnTo>
                <a:lnTo>
                  <a:pt x="1269187" y="3108960"/>
                </a:lnTo>
                <a:lnTo>
                  <a:pt x="153619" y="2476195"/>
                </a:lnTo>
                <a:lnTo>
                  <a:pt x="0" y="2208276"/>
                </a:lnTo>
                <a:lnTo>
                  <a:pt x="0" y="941832"/>
                </a:lnTo>
                <a:lnTo>
                  <a:pt x="153619" y="673913"/>
                </a:lnTo>
                <a:lnTo>
                  <a:pt x="1269187" y="41148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56208" y="15727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報告しない葉：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が残っている</a:t>
            </a:r>
          </a:p>
        </p:txBody>
      </p:sp>
      <p:sp>
        <p:nvSpPr>
          <p:cNvPr id="21" name="Shape 19"/>
          <p:cNvSpPr/>
          <p:nvPr/>
        </p:nvSpPr>
        <p:spPr>
          <a:xfrm>
            <a:off x="789127" y="107899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2396" y="1158545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" y="112928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の役割</a:t>
            </a:r>
          </a:p>
        </p:txBody>
      </p:sp>
      <p:sp>
        <p:nvSpPr>
          <p:cNvPr id="24" name="Text 22"/>
          <p:cNvSpPr/>
          <p:nvPr/>
        </p:nvSpPr>
        <p:spPr>
          <a:xfrm>
            <a:off x="779983" y="301752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＝「使えるのに、調べ終えた点」</a:t>
            </a:r>
          </a:p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例：R={1,5} は 2 を足せるので極大ではない。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{1,2,5} はもう別の枝で報告済み</a:t>
            </a:r>
          </a:p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が残る → 極大でない（または別の枝で出る）</a:t>
            </a:r>
            <a:b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ので報告しない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8838" y="0"/>
            <a:ext cx="5033772" cy="4152290"/>
          </a:xfrm>
          <a:custGeom>
            <a:avLst/>
            <a:gdLst/>
            <a:ahLst/>
            <a:cxnLst/>
            <a:rect l="l" t="t" r="r" b="b"/>
            <a:pathLst>
              <a:path w="5033772" h="4152290">
                <a:moveTo>
                  <a:pt x="0" y="0"/>
                </a:moveTo>
                <a:lnTo>
                  <a:pt x="5033772" y="0"/>
                </a:lnTo>
                <a:lnTo>
                  <a:pt x="5033772" y="3396996"/>
                </a:lnTo>
                <a:lnTo>
                  <a:pt x="3900830" y="4048049"/>
                </a:lnTo>
                <a:lnTo>
                  <a:pt x="3130906" y="4048049"/>
                </a:lnTo>
                <a:lnTo>
                  <a:pt x="382219" y="2462479"/>
                </a:lnTo>
                <a:lnTo>
                  <a:pt x="0" y="1797710"/>
                </a:lnTo>
                <a:close/>
              </a:path>
            </a:pathLst>
          </a:custGeom>
          <a:solidFill>
            <a:srgbClr val="3B76EE"/>
          </a:solidFill>
          <a:ln/>
        </p:spPr>
      </p:sp>
      <p:sp>
        <p:nvSpPr>
          <p:cNvPr id="3" name="Shape 1"/>
          <p:cNvSpPr/>
          <p:nvPr/>
        </p:nvSpPr>
        <p:spPr>
          <a:xfrm>
            <a:off x="5194706" y="508406"/>
            <a:ext cx="5549494" cy="6349594"/>
          </a:xfrm>
          <a:prstGeom prst="rect">
            <a:avLst/>
          </a:prstGeom>
          <a:solidFill>
            <a:srgbClr val="E8F0F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0" y="822960"/>
            <a:ext cx="516636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BKPivot(R, P, X):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if P = ∅ and X = ∅: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report R      // 極大クリーク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return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u ← P ∪ X のうち |P ∩ N(u)| が最大の点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for v in P \ N(u):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BKPivot(R ∪ {v}, P ∩ N(v), X ∩ N(v))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P ← P \ {v}</a:t>
            </a:r>
          </a:p>
          <a:p>
            <a:pPr algn="l" indent="0" marL="0">
              <a:lnSpc>
                <a:spcPct val="140000"/>
              </a:lnSpc>
              <a:spcAft>
                <a:spcPts val="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X ← X ∪ {v}</a:t>
            </a:r>
          </a:p>
        </p:txBody>
      </p:sp>
      <p:sp>
        <p:nvSpPr>
          <p:cNvPr id="5" name="Shape 3"/>
          <p:cNvSpPr/>
          <p:nvPr/>
        </p:nvSpPr>
        <p:spPr>
          <a:xfrm>
            <a:off x="789127" y="1040587"/>
            <a:ext cx="1325880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120140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1090879"/>
            <a:ext cx="109728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Tomita</a:t>
            </a:r>
          </a:p>
        </p:txBody>
      </p:sp>
      <p:sp>
        <p:nvSpPr>
          <p:cNvPr id="8" name="Text 6"/>
          <p:cNvSpPr/>
          <p:nvPr/>
        </p:nvSpPr>
        <p:spPr>
          <a:xfrm>
            <a:off x="756209" y="157276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ピボット付き</a:t>
            </a:r>
          </a:p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擬似コード</a:t>
            </a:r>
          </a:p>
        </p:txBody>
      </p:sp>
      <p:sp>
        <p:nvSpPr>
          <p:cNvPr id="9" name="Text 7"/>
          <p:cNvSpPr/>
          <p:nvPr/>
        </p:nvSpPr>
        <p:spPr>
          <a:xfrm>
            <a:off x="776325" y="3429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</a:t>
            </a:r>
          </a:p>
        </p:txBody>
      </p:sp>
      <p:sp>
        <p:nvSpPr>
          <p:cNvPr id="10" name="Text 8"/>
          <p:cNvSpPr/>
          <p:nvPr/>
        </p:nvSpPr>
        <p:spPr>
          <a:xfrm>
            <a:off x="776325" y="388620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BK との違いは </a:t>
            </a: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 の範囲だけ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（P → P∖N(u)）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 は X から選んでもよい</a:t>
            </a:r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との隣接が多い u ほど枝が減る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（Tomita ら 2006 の選び方）</a:t>
            </a:r>
          </a:p>
        </p:txBody>
      </p:sp>
      <p:sp>
        <p:nvSpPr>
          <p:cNvPr id="19" name="Text 17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6208" y="1828800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外側ループの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ja-JP" sz="34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擬似コード</a:t>
            </a:r>
          </a:p>
        </p:txBody>
      </p:sp>
      <p:sp>
        <p:nvSpPr>
          <p:cNvPr id="5" name="Shape 3"/>
          <p:cNvSpPr/>
          <p:nvPr/>
        </p:nvSpPr>
        <p:spPr>
          <a:xfrm>
            <a:off x="789127" y="1461211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54076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7" name="Text 5"/>
          <p:cNvSpPr/>
          <p:nvPr/>
        </p:nvSpPr>
        <p:spPr>
          <a:xfrm>
            <a:off x="1118311" y="1511503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Eppstein</a:t>
            </a:r>
          </a:p>
        </p:txBody>
      </p:sp>
      <p:sp>
        <p:nvSpPr>
          <p:cNvPr id="8" name="Text 6"/>
          <p:cNvSpPr/>
          <p:nvPr/>
        </p:nvSpPr>
        <p:spPr>
          <a:xfrm>
            <a:off x="779983" y="31546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外側は </a:t>
            </a: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回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中身は Tomita のピボット BK そのまま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|P| ≤ d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（前のスライド）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前の点を X に入れるので、v</a:t>
            </a:r>
            <a:r>
              <a:rPr lang="ja-JP" sz="16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が出すのは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「v</a:t>
            </a:r>
            <a:r>
              <a:rPr lang="ja-JP" sz="16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を含み、順序で v</a:t>
            </a:r>
            <a:r>
              <a:rPr lang="ja-JP" sz="16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より前の点を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含まない」極大クリークだけ</a:t>
            </a:r>
          </a:p>
        </p:txBody>
      </p:sp>
      <p:sp>
        <p:nvSpPr>
          <p:cNvPr id="1600" name="Code box 1600"/>
          <p:cNvSpPr/>
          <p:nvPr/>
        </p:nvSpPr>
        <p:spPr>
          <a:xfrm>
            <a:off x="5989320" y="1463040"/>
            <a:ext cx="5806440" cy="3017520"/>
          </a:xfrm>
          <a:prstGeom prst="rect">
            <a:avLst/>
          </a:prstGeom>
          <a:solidFill>
            <a:srgbClr val="E8F0FD"/>
          </a:solidFill>
          <a:ln w="12700">
            <a:solidFill>
              <a:srgbClr val="BFD3F8"/>
            </a:solidFill>
          </a:ln>
        </p:spPr>
        <p:txBody>
          <a:bodyPr wrap="square" lIns="228600" rIns="182880" tIns="137160" bIns="137160" anchor="ctr"/>
          <a:lstStyle/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1F2937"/>
                </a:solidFill>
                <a:latin typeface="Noto Sans Mono CJK JP"/>
                <a:ea typeface="Noto Sans Mono CJK JP"/>
                <a:cs typeface="Noto Sans Mono CJK JP"/>
              </a:rPr>
              <a:t>Eppstein(G):</a:t>
            </a:r>
          </a:p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1F2937"/>
                </a:solidFill>
                <a:latin typeface="Noto Sans Mono CJK JP"/>
                <a:ea typeface="Noto Sans Mono CJK JP"/>
                <a:cs typeface="Noto Sans Mono CJK JP"/>
              </a:rPr>
              <a:t>  v1, ..., vn ← 縮退順序</a:t>
            </a:r>
          </a:p>
          <a:p>
            <a:pPr algn="l">
              <a:lnSpc>
                <a:spcPct val="135000"/>
              </a:lnSpc>
            </a:pPr>
            <a:r>
              <a:rPr lang="ja-JP" sz="1500" b="1" dirty="0">
                <a:solidFill>
                  <a:srgbClr val="2563EB"/>
                </a:solidFill>
                <a:latin typeface="Noto Sans Mono CJK JP"/>
                <a:ea typeface="Noto Sans Mono CJK JP"/>
                <a:cs typeface="Noto Sans Mono CJK JP"/>
              </a:rPr>
              <a:t>  for i = 1 .. n:</a:t>
            </a:r>
          </a:p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1F2937"/>
                </a:solidFill>
                <a:latin typeface="Noto Sans Mono CJK JP"/>
                <a:ea typeface="Noto Sans Mono CJK JP"/>
                <a:cs typeface="Noto Sans Mono CJK JP"/>
              </a:rPr>
              <a:t>    P ← N(vi) ∩ {vi+1, ..., vn}   // 後ろの隣接</a:t>
            </a:r>
          </a:p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1F2937"/>
                </a:solidFill>
                <a:latin typeface="Noto Sans Mono CJK JP"/>
                <a:ea typeface="Noto Sans Mono CJK JP"/>
                <a:cs typeface="Noto Sans Mono CJK JP"/>
              </a:rPr>
              <a:t>    X ← N(vi) ∩ {v1, ..., vi-1}   // 前の隣接</a:t>
            </a:r>
          </a:p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1F2937"/>
                </a:solidFill>
                <a:latin typeface="Noto Sans Mono CJK JP"/>
                <a:ea typeface="Noto Sans Mono CJK JP"/>
                <a:cs typeface="Noto Sans Mono CJK JP"/>
              </a:rPr>
              <a:t>    BKPivot({vi}, P, X)</a:t>
            </a:r>
          </a:p>
        </p:txBody>
      </p:sp>
      <p:sp>
        <p:nvSpPr>
          <p:cNvPr id="1601" name="Text box 1601"/>
          <p:cNvSpPr txBox="1"/>
          <p:nvPr/>
        </p:nvSpPr>
        <p:spPr>
          <a:xfrm>
            <a:off x="5989320" y="4617720"/>
            <a:ext cx="58064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Eppstein, Löffler, Strash 2010 の Fig. 4（BronKerboschDegeneracy）と同じ形</a:t>
            </a:r>
          </a:p>
          <a:p>
            <a:pPr algn="l"/>
            <a:r>
              <a:rPr lang="ja-JP" sz="12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論文は v0 から番号を振り、BronKerboschPivot(P, R, X) の引数順</a:t>
            </a:r>
          </a:p>
        </p:txBody>
      </p:sp>
      <p:sp>
        <p:nvSpPr>
          <p:cNvPr id="17" name="Text 15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756208" y="1616659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各外側が出すもの</a:t>
            </a:r>
          </a:p>
        </p:txBody>
      </p:sp>
      <p:sp>
        <p:nvSpPr>
          <p:cNvPr id="12" name="Shape 10"/>
          <p:cNvSpPr/>
          <p:nvPr/>
        </p:nvSpPr>
        <p:spPr>
          <a:xfrm>
            <a:off x="789127" y="1082650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2396" y="1162202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8311" y="1132942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Eppstein</a:t>
            </a:r>
          </a:p>
        </p:txBody>
      </p:sp>
      <p:graphicFrame>
        <p:nvGraphicFramePr>
          <p:cNvPr id="1700" name="Outer loop table"/>
          <p:cNvGraphicFramePr>
            <a:graphicFrameLocks noGrp="1"/>
          </p:cNvGraphicFramePr>
          <p:nvPr/>
        </p:nvGraphicFramePr>
        <p:xfrm>
          <a:off x="777240" y="2514600"/>
          <a:ext cx="6766560" cy="3200400"/>
        </p:xfrm>
        <a:graphic>
          <a:graphicData uri="http://schemas.openxmlformats.org/drawingml/2006/table">
            <a:tbl>
              <a:tblPr firstRow="1"/>
              <a:tblGrid>
                <a:gridCol w="1005840"/>
                <a:gridCol w="1828800"/>
                <a:gridCol w="18288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6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P（後ろ）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X（前）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{4}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2563E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{4,6}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{2,5}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2563E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{1,2,5}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{3,5}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{1}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2563E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{2,3}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{4}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{2}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2563E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{3,4}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{5}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{3,6}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2563E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{4,5}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700" b="1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600" dirty="0">
                          <a:solidFill>
                            <a:srgbClr val="1F2937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{1,2,4}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700" dirty="0">
                          <a:solidFill>
                            <a:srgbClr val="9CA3A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701" name="Text box 1701"/>
          <p:cNvSpPr txBox="1"/>
          <p:nvPr/>
        </p:nvSpPr>
        <p:spPr>
          <a:xfrm>
            <a:off x="8001000" y="251460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lang="ja-JP" sz="2400" b="1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合計 5 個</a:t>
            </a:r>
          </a:p>
          <a:p>
            <a:pPr algn="l">
              <a:spcAft>
                <a:spcPts val="600"/>
              </a:spcAft>
            </a:pPr>
            <a:r>
              <a:rPr lang="ja-JP" sz="2000" b="1" dirty="0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重複なし・漏れなし</a:t>
            </a:r>
          </a:p>
          <a:p>
            <a:pPr algn="l">
              <a:spcAft>
                <a:spcPts val="600"/>
              </a:spcAft>
            </a:pPr>
            <a:r>
              <a:rPr lang="ja-JP" sz="1600" dirty="0">
                <a:solidFill>
                  <a:srgbClr val="4B5563"/>
                </a:solidFill>
                <a:latin typeface="Noto Sans CJK JP"/>
                <a:ea typeface="Noto Sans CJK JP"/>
                <a:cs typeface="Noto Sans CJK JP"/>
              </a:rPr>
              <a:t>|P| はどれも ≤ 2（= d）</a:t>
            </a:r>
          </a:p>
        </p:txBody>
      </p:sp>
      <p:sp>
        <p:nvSpPr>
          <p:cNvPr id="1702" name="Tree node 1702"/>
          <p:cNvSpPr/>
          <p:nvPr/>
        </p:nvSpPr>
        <p:spPr>
          <a:xfrm>
            <a:off x="8001000" y="4069080"/>
            <a:ext cx="3840480" cy="1645920"/>
          </a:xfrm>
          <a:prstGeom prst="roundRect">
            <a:avLst>
              <a:gd name="adj" fmla="val 12000"/>
            </a:avLst>
          </a:prstGeom>
          <a:solidFill>
            <a:srgbClr val="E8F0FD"/>
          </a:solidFill>
          <a:ln w="9525">
            <a:solidFill>
              <a:srgbClr val="BFD3F8"/>
            </a:solidFill>
          </a:ln>
        </p:spPr>
        <p:txBody>
          <a:bodyPr wrap="square" lIns="27432" rIns="27432" tIns="18288" bIns="18288" anchor="ctr"/>
          <a:lstStyle/>
          <a:p>
            <a:pPr algn="ctr">
              <a:lnSpc>
                <a:spcPct val="100000"/>
              </a:lnSpc>
            </a:pPr>
            <a:r>
              <a:rPr lang="ja-JP" sz="15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v=2 では {2,5} も作れるが</a:t>
            </a:r>
          </a:p>
          <a:p>
            <a:pPr algn="ctr">
              <a:lnSpc>
                <a:spcPct val="100000"/>
              </a:lnSpc>
            </a:pPr>
            <a:r>
              <a:rPr lang="ja-JP" sz="15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X に 1 が残るので報告しない</a:t>
            </a:r>
          </a:p>
          <a:p>
            <a:pPr algn="ctr">
              <a:lnSpc>
                <a:spcPct val="100000"/>
              </a:lnSpc>
            </a:pPr>
            <a:r>
              <a:rPr lang="ja-JP" sz="1400" dirty="0">
                <a:solidFill>
                  <a:srgbClr val="1F2937"/>
                </a:solidFill>
                <a:latin typeface="Noto Sans CJK JP"/>
                <a:ea typeface="Noto Sans CJK JP"/>
                <a:cs typeface="Noto Sans CJK JP"/>
              </a:rPr>
              <a:t>（{1,2,5} は v=1 で出た）</a:t>
            </a:r>
          </a:p>
        </p:txBody>
      </p:sp>
      <p:sp>
        <p:nvSpPr>
          <p:cNvPr id="34" name="Text 32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8950" y="3291840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4309567" y="799186"/>
            <a:ext cx="2468880" cy="2766974"/>
          </a:xfrm>
          <a:custGeom>
            <a:avLst/>
            <a:gdLst/>
            <a:ahLst/>
            <a:cxnLst/>
            <a:rect l="l" t="t" r="r" b="b"/>
            <a:pathLst>
              <a:path w="2468880" h="2766974">
                <a:moveTo>
                  <a:pt x="1234440" y="0"/>
                </a:moveTo>
                <a:lnTo>
                  <a:pt x="1367942" y="35662"/>
                </a:lnTo>
                <a:lnTo>
                  <a:pt x="2335378" y="592531"/>
                </a:lnTo>
                <a:lnTo>
                  <a:pt x="2468880" y="827532"/>
                </a:lnTo>
                <a:lnTo>
                  <a:pt x="2468880" y="1939442"/>
                </a:lnTo>
                <a:lnTo>
                  <a:pt x="2335378" y="2174443"/>
                </a:lnTo>
                <a:lnTo>
                  <a:pt x="1367942" y="2731313"/>
                </a:lnTo>
                <a:lnTo>
                  <a:pt x="1100938" y="2731313"/>
                </a:lnTo>
                <a:lnTo>
                  <a:pt x="133502" y="2174443"/>
                </a:lnTo>
                <a:lnTo>
                  <a:pt x="0" y="1939442"/>
                </a:lnTo>
                <a:lnTo>
                  <a:pt x="0" y="827532"/>
                </a:lnTo>
                <a:lnTo>
                  <a:pt x="133502" y="592531"/>
                </a:lnTo>
                <a:lnTo>
                  <a:pt x="1100938" y="35662"/>
                </a:lnTo>
                <a:close/>
              </a:path>
            </a:pathLst>
          </a:custGeom>
          <a:solidFill>
            <a:srgbClr val="DCE7FC"/>
          </a:solidFill>
          <a:ln/>
        </p:spPr>
      </p:sp>
      <p:sp>
        <p:nvSpPr>
          <p:cNvPr id="6" name="Text 4"/>
          <p:cNvSpPr/>
          <p:nvPr/>
        </p:nvSpPr>
        <p:spPr>
          <a:xfrm>
            <a:off x="756208" y="1737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sz="3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重いタスクを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ja-JP" sz="3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内側で割る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1294790"/>
            <a:ext cx="1417320" cy="346557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1374343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1345082"/>
            <a:ext cx="1097280" cy="2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案（検討中）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30175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重い外側タスクの探索木で、ある節点の子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</a:t>
            </a:r>
            <a:r>
              <a:rPr lang="ja-JP" sz="16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, v</a:t>
            </a:r>
            <a:r>
              <a:rPr lang="ja-JP" sz="16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, … ∈ P∖N(u) を別タスクにする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例（Tomita の根、分岐 {2,4,6}）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 4：P=(P∖{2})∩N(4)={3,5,6}, X={2}∩N(4)=∅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 6：P=(P∖{2,4})∩N(6)=∅, X={2,4}∩N(6)={4}</a:t>
            </a:r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sz="14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worked.txt の逐次トレースと同じ状態</a:t>
            </a:r>
          </a:p>
        </p:txBody>
      </p:sp>
      <p:sp>
        <p:nvSpPr>
          <p:cNvPr id="15" name="Shape 13"/>
          <p:cNvSpPr/>
          <p:nvPr/>
        </p:nvSpPr>
        <p:spPr>
          <a:xfrm>
            <a:off x="6512357" y="1235354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7651" y="1215237"/>
            <a:ext cx="448056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重複なし</a:t>
            </a:r>
          </a:p>
        </p:txBody>
      </p:sp>
      <p:sp>
        <p:nvSpPr>
          <p:cNvPr id="24" name="Text 22"/>
          <p:cNvSpPr/>
          <p:nvPr/>
        </p:nvSpPr>
        <p:spPr>
          <a:xfrm>
            <a:off x="7283196" y="178308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 番目の子には、前の兄弟を P から抜き X に入れた状態を渡す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(P ∖ {v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..v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j−1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}) ∩ N(v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= (X ∪ {v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..v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j−1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}) ∩ N(v</a:t>
            </a:r>
            <a:r>
              <a:rPr lang="ja-JP" sz="1500" dirty="0" baseline="-2500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</a:t>
            </a: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前の兄弟は X にいるので二度出さない</a:t>
            </a:r>
          </a:p>
        </p:txBody>
      </p:sp>
      <p:sp>
        <p:nvSpPr>
          <p:cNvPr id="25" name="Shape 23"/>
          <p:cNvSpPr/>
          <p:nvPr/>
        </p:nvSpPr>
        <p:spPr>
          <a:xfrm>
            <a:off x="7513625" y="4139489"/>
            <a:ext cx="533095" cy="53309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69833" y="4119371"/>
            <a:ext cx="3657600" cy="529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sz="22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漏れなし</a:t>
            </a:r>
          </a:p>
        </p:txBody>
      </p:sp>
      <p:sp>
        <p:nvSpPr>
          <p:cNvPr id="32" name="Text 30"/>
          <p:cNvSpPr/>
          <p:nvPr/>
        </p:nvSpPr>
        <p:spPr>
          <a:xfrm>
            <a:off x="8285378" y="4690872"/>
            <a:ext cx="37490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P∖N(u) の子を全部タスクにする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5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逐次と同じ出力になる</a:t>
            </a:r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ja-JP" sz="13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（逐次の for ループと同じ状態を渡すから）</a:t>
            </a:r>
          </a:p>
        </p:txBody>
      </p:sp>
      <p:sp>
        <p:nvSpPr>
          <p:cNvPr id="33" name="Text 3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56209" y="1728216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実験と結果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1194206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1273759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1244498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実験</a:t>
            </a:r>
          </a:p>
        </p:txBody>
      </p:sp>
      <p:sp>
        <p:nvSpPr>
          <p:cNvPr id="10" name="Text 8"/>
          <p:cNvSpPr/>
          <p:nvPr/>
        </p:nvSpPr>
        <p:spPr>
          <a:xfrm>
            <a:off x="779983" y="26060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環境（マシン・言語・スレッド数）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</a:t>
            </a:r>
          </a:p>
          <a:p>
            <a:pPr algn="l"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データセット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</a:t>
            </a:r>
          </a:p>
          <a:p>
            <a:pPr algn="l"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ベースライン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逐次の Eppstein</a:t>
            </a:r>
          </a:p>
          <a:p>
            <a:pPr algn="l"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ja-JP" sz="1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工夫と改善</a:t>
            </a:r>
            <a:br>
              <a:rPr lang="ja-JP" sz="18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8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</a:t>
            </a:r>
          </a:p>
        </p:txBody>
      </p:sp>
      <p:sp>
        <p:nvSpPr>
          <p:cNvPr id="15" name="Text 13"/>
          <p:cNvSpPr/>
          <p:nvPr/>
        </p:nvSpPr>
        <p:spPr>
          <a:xfrm>
            <a:off x="5669280" y="1280160"/>
            <a:ext cx="5760720" cy="4480560"/>
          </a:xfrm>
          <a:prstGeom prst="rect">
            <a:avLst/>
          </a:prstGeom>
          <a:solidFill>
            <a:srgbClr val="F1F5FB"/>
          </a:solidFill>
          <a:ln w="15875">
            <a:solidFill>
              <a:srgbClr val="93B8F5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ja-JP" sz="2000" dirty="0" b="1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（実測の図を入れる）</a:t>
            </a:r>
          </a:p>
          <a:p>
            <a:pPr algn="ctr" indent="0" marL="0">
              <a:spcAft>
                <a:spcPts val="600"/>
              </a:spcAft>
              <a:buNone/>
            </a:pPr>
            <a:r>
              <a:rPr lang="ja-JP" sz="14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横軸：スレッド数　／　縦軸：速度向上</a:t>
            </a:r>
          </a:p>
        </p:txBody>
      </p:sp>
      <p:sp>
        <p:nvSpPr>
          <p:cNvPr id="33" name="Text 31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8055" y="3429000"/>
            <a:ext cx="4634179" cy="3429000"/>
          </a:xfrm>
          <a:custGeom>
            <a:avLst/>
            <a:gdLst/>
            <a:ahLst/>
            <a:cxnLst/>
            <a:rect l="l" t="t" r="r" b="b"/>
            <a:pathLst>
              <a:path w="4634179" h="3429000">
                <a:moveTo>
                  <a:pt x="2317090" y="0"/>
                </a:moveTo>
                <a:lnTo>
                  <a:pt x="2567635" y="113386"/>
                </a:lnTo>
                <a:lnTo>
                  <a:pt x="4383634" y="1837944"/>
                </a:lnTo>
                <a:lnTo>
                  <a:pt x="4634179" y="2263140"/>
                </a:lnTo>
                <a:lnTo>
                  <a:pt x="4634179" y="3429000"/>
                </a:lnTo>
                <a:lnTo>
                  <a:pt x="0" y="3429000"/>
                </a:lnTo>
                <a:lnTo>
                  <a:pt x="0" y="2263140"/>
                </a:lnTo>
                <a:lnTo>
                  <a:pt x="250546" y="1837944"/>
                </a:lnTo>
                <a:lnTo>
                  <a:pt x="2066544" y="113386"/>
                </a:lnTo>
                <a:close/>
              </a:path>
            </a:pathLst>
          </a:custGeom>
          <a:solidFill>
            <a:srgbClr val="E8F0FD"/>
          </a:solidFill>
          <a:ln/>
        </p:spPr>
      </p:sp>
      <p:sp>
        <p:nvSpPr>
          <p:cNvPr id="4" name="Shape 2"/>
          <p:cNvSpPr/>
          <p:nvPr/>
        </p:nvSpPr>
        <p:spPr>
          <a:xfrm>
            <a:off x="882396" y="0"/>
            <a:ext cx="5045659" cy="4016959"/>
          </a:xfrm>
          <a:custGeom>
            <a:avLst/>
            <a:gdLst/>
            <a:ahLst/>
            <a:cxnLst/>
            <a:rect l="l" t="t" r="r" b="b"/>
            <a:pathLst>
              <a:path w="5045659" h="4016959">
                <a:moveTo>
                  <a:pt x="5486" y="0"/>
                </a:moveTo>
                <a:lnTo>
                  <a:pt x="5040173" y="0"/>
                </a:lnTo>
                <a:lnTo>
                  <a:pt x="5045659" y="52121"/>
                </a:lnTo>
                <a:lnTo>
                  <a:pt x="5045659" y="2329891"/>
                </a:lnTo>
                <a:lnTo>
                  <a:pt x="4773168" y="2803550"/>
                </a:lnTo>
                <a:lnTo>
                  <a:pt x="2795321" y="3944722"/>
                </a:lnTo>
                <a:lnTo>
                  <a:pt x="2250338" y="3944722"/>
                </a:lnTo>
                <a:lnTo>
                  <a:pt x="272491" y="2803550"/>
                </a:lnTo>
                <a:lnTo>
                  <a:pt x="0" y="2329891"/>
                </a:lnTo>
                <a:lnTo>
                  <a:pt x="0" y="52121"/>
                </a:lnTo>
                <a:close/>
              </a:path>
            </a:pathLst>
          </a:custGeom>
          <a:solidFill>
            <a:srgbClr val="F1F5FB"/>
          </a:solidFill>
          <a:ln w="15875">
            <a:solidFill>
              <a:srgbClr val="93B8F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82396" y="1463040"/>
            <a:ext cx="50456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ja-JP" sz="16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（実測の図を入れる）</a:t>
            </a:r>
          </a:p>
          <a:p>
            <a:pPr algn="ctr" indent="0" marL="0">
              <a:spcAft>
                <a:spcPts val="400"/>
              </a:spcAft>
              <a:buNone/>
            </a:pPr>
            <a:r>
              <a:rPr lang="ja-JP" sz="14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観測した現象の図</a:t>
            </a:r>
          </a:p>
        </p:txBody>
      </p:sp>
      <p:sp>
        <p:nvSpPr>
          <p:cNvPr id="6" name="Text 4"/>
          <p:cNvSpPr/>
          <p:nvPr/>
        </p:nvSpPr>
        <p:spPr>
          <a:xfrm>
            <a:off x="756209" y="4913071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ja-JP" sz="3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Pコア／Eコア問題</a:t>
            </a:r>
          </a:p>
        </p:txBody>
      </p:sp>
      <p:sp>
        <p:nvSpPr>
          <p:cNvPr id="7" name="Shape 5"/>
          <p:cNvSpPr/>
          <p:nvPr/>
        </p:nvSpPr>
        <p:spPr>
          <a:xfrm>
            <a:off x="789127" y="4379062"/>
            <a:ext cx="1119226" cy="346558"/>
          </a:xfrm>
          <a:prstGeom prst="roundRect">
            <a:avLst>
              <a:gd name="adj" fmla="val 50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2396" y="4458614"/>
            <a:ext cx="188366" cy="188366"/>
          </a:xfrm>
          <a:prstGeom prst="ellipse">
            <a:avLst/>
          </a:prstGeom>
          <a:solidFill>
            <a:srgbClr val="BFD4FA"/>
          </a:solidFill>
          <a:ln/>
        </p:spPr>
      </p:sp>
      <p:sp>
        <p:nvSpPr>
          <p:cNvPr id="9" name="Text 7"/>
          <p:cNvSpPr/>
          <p:nvPr/>
        </p:nvSpPr>
        <p:spPr>
          <a:xfrm>
            <a:off x="1118311" y="4429354"/>
            <a:ext cx="844906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/ E</a:t>
            </a:r>
          </a:p>
        </p:txBody>
      </p:sp>
      <p:sp>
        <p:nvSpPr>
          <p:cNvPr id="10" name="Shape 8"/>
          <p:cNvSpPr/>
          <p:nvPr/>
        </p:nvSpPr>
        <p:spPr>
          <a:xfrm>
            <a:off x="5989320" y="4983480"/>
            <a:ext cx="1369771" cy="1535278"/>
          </a:xfrm>
          <a:custGeom>
            <a:avLst/>
            <a:gdLst/>
            <a:ahLst/>
            <a:cxnLst/>
            <a:rect l="l" t="t" r="r" b="b"/>
            <a:pathLst>
              <a:path w="1369771" h="1535278">
                <a:moveTo>
                  <a:pt x="684886" y="0"/>
                </a:moveTo>
                <a:lnTo>
                  <a:pt x="758952" y="20117"/>
                </a:lnTo>
                <a:lnTo>
                  <a:pt x="1295705" y="328270"/>
                </a:lnTo>
                <a:lnTo>
                  <a:pt x="1369771" y="459029"/>
                </a:lnTo>
                <a:lnTo>
                  <a:pt x="1369771" y="1076249"/>
                </a:lnTo>
                <a:lnTo>
                  <a:pt x="1295705" y="1207008"/>
                </a:lnTo>
                <a:lnTo>
                  <a:pt x="758952" y="1515161"/>
                </a:lnTo>
                <a:lnTo>
                  <a:pt x="610819" y="1515161"/>
                </a:lnTo>
                <a:lnTo>
                  <a:pt x="74066" y="1207008"/>
                </a:lnTo>
                <a:lnTo>
                  <a:pt x="0" y="1076249"/>
                </a:lnTo>
                <a:lnTo>
                  <a:pt x="0" y="459029"/>
                </a:lnTo>
                <a:lnTo>
                  <a:pt x="74066" y="328270"/>
                </a:lnTo>
                <a:lnTo>
                  <a:pt x="610819" y="20117"/>
                </a:lnTo>
                <a:close/>
              </a:path>
            </a:pathLst>
          </a:custGeom>
          <a:solidFill>
            <a:srgbClr val="3B76EE"/>
          </a:solidFill>
          <a:ln/>
          <a:effectLst>
            <a:outerShdw sx="100000" sy="100000" kx="0" ky="0" algn="bl" rotWithShape="0" blurRad="393700" dist="1270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5303520"/>
            <a:ext cx="13697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ja-JP" sz="3000" dirty="0" b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ja-JP" sz="12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省電力コア</a:t>
            </a:r>
          </a:p>
        </p:txBody>
      </p:sp>
      <p:sp>
        <p:nvSpPr>
          <p:cNvPr id="12" name="Shape 10"/>
          <p:cNvSpPr/>
          <p:nvPr/>
        </p:nvSpPr>
        <p:spPr>
          <a:xfrm>
            <a:off x="5411419" y="898855"/>
            <a:ext cx="1369771" cy="1535278"/>
          </a:xfrm>
          <a:custGeom>
            <a:avLst/>
            <a:gdLst/>
            <a:ahLst/>
            <a:cxnLst/>
            <a:rect l="l" t="t" r="r" b="b"/>
            <a:pathLst>
              <a:path w="1369771" h="1535278">
                <a:moveTo>
                  <a:pt x="684886" y="0"/>
                </a:moveTo>
                <a:lnTo>
                  <a:pt x="758952" y="20117"/>
                </a:lnTo>
                <a:lnTo>
                  <a:pt x="1295705" y="328270"/>
                </a:lnTo>
                <a:lnTo>
                  <a:pt x="1369771" y="459029"/>
                </a:lnTo>
                <a:lnTo>
                  <a:pt x="1369771" y="1076249"/>
                </a:lnTo>
                <a:lnTo>
                  <a:pt x="1295705" y="1207008"/>
                </a:lnTo>
                <a:lnTo>
                  <a:pt x="758952" y="1515161"/>
                </a:lnTo>
                <a:lnTo>
                  <a:pt x="610819" y="1515161"/>
                </a:lnTo>
                <a:lnTo>
                  <a:pt x="74066" y="1207008"/>
                </a:lnTo>
                <a:lnTo>
                  <a:pt x="0" y="1076249"/>
                </a:lnTo>
                <a:lnTo>
                  <a:pt x="0" y="459029"/>
                </a:lnTo>
                <a:lnTo>
                  <a:pt x="74066" y="328270"/>
                </a:lnTo>
                <a:lnTo>
                  <a:pt x="610819" y="20117"/>
                </a:lnTo>
                <a:close/>
              </a:path>
            </a:pathLst>
          </a:custGeom>
          <a:solidFill>
            <a:srgbClr val="FBFBFB"/>
          </a:solidFill>
          <a:ln/>
          <a:effectLst>
            <a:outerShdw sx="100000" sy="100000" kx="0" ky="0" algn="bl" rotWithShape="0" blurRad="393700" dist="1270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11419" y="1188720"/>
            <a:ext cx="13697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ja-JP" sz="30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ja-JP" sz="120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速いコア</a:t>
            </a:r>
          </a:p>
        </p:txBody>
      </p:sp>
      <p:sp>
        <p:nvSpPr>
          <p:cNvPr id="14" name="Text 12"/>
          <p:cNvSpPr/>
          <p:nvPr/>
        </p:nvSpPr>
        <p:spPr>
          <a:xfrm>
            <a:off x="7288682" y="106161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ja-JP" sz="2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性能の違うコアが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ja-JP" sz="28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混在すると偏る</a:t>
            </a:r>
          </a:p>
        </p:txBody>
      </p:sp>
      <p:sp>
        <p:nvSpPr>
          <p:cNvPr id="15" name="Text 13"/>
          <p:cNvSpPr/>
          <p:nvPr/>
        </p:nvSpPr>
        <p:spPr>
          <a:xfrm>
            <a:off x="7312456" y="237744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速い P コアと省電力の E コアでは、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同じ仕事でも終わる時間が違う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タスクを均等に配っても、</a:t>
            </a:r>
            <a:b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 b="1">
                <a:solidFill>
                  <a:srgbClr val="2563E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コアに当たった分が最後まで残りうる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重いタスクが E コアに当たると、</a:t>
            </a:r>
            <a:b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r>
              <a:rPr lang="ja-JP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前のスライドの偏りがさらに大きくなる</a:t>
            </a:r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ja-JP" sz="1600" dirty="0" b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観測した現象：</a:t>
            </a:r>
            <a:r>
              <a:rPr lang="ja-JP" sz="16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（未記入）</a:t>
            </a:r>
          </a:p>
        </p:txBody>
      </p:sp>
      <p:sp>
        <p:nvSpPr>
          <p:cNvPr id="16" name="Text 14"/>
          <p:cNvSpPr/>
          <p:nvPr/>
        </p:nvSpPr>
        <p:spPr>
          <a:xfrm>
            <a:off x="9171432" y="62407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2026-10-07T08:14:15Z</dcterms:created>
  <dcterms:modified xsi:type="dcterms:W3CDTF">2026-10-07T08:14:15Z</dcterms:modified>
</cp:coreProperties>
</file>