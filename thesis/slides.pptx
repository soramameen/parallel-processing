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charts/chart2.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3.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120" d="100"/>
          <a:sy n="120" d="100"/>
        </p:scale>
        <p:origin x="800"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1"/>
  <c:style val="2"/>
  <c:chart>
    <c:title>
      <c:tx>
        <c:rich>
          <a:bodyPr/>
          <a:lstStyle/>
          <a:p>
            <a:pPr>
              <a:defRPr sz="1400" b="1"/>
            </a:pPr>
            <a:r>
              <a:rPr lang="en-US" sz="1400" b="1"/>
              <a:t>Tomita 時間 ÷ Eppstein 時間（倍率）</a:t>
            </a:r>
          </a:p>
        </c:rich>
      </c:tx>
      <c:overlay val="0"/>
    </c:title>
    <c:autoTitleDeleted val="0"/>
    <c:plotArea>
      <c:layout/>
      <c:barChart>
        <c:barDir val="bar"/>
        <c:grouping val="clustered"/>
        <c:varyColors val="0"/>
        <c:ser>
          <c:idx val="0"/>
          <c:order val="0"/>
          <c:tx>
            <c:v>倍率</c:v>
          </c:tx>
          <c:spPr>
            <a:solidFill>
              <a:srgbClr val="1E2761"/>
            </a:solidFill>
          </c:spPr>
          <c:invertIfNegative val="0"/>
          <c:cat>
            <c:strLit>
              <c:ptCount val="10"/>
              <c:pt idx="0">
                <c:v>木</c:v>
              </c:pt>
              <c:pt idx="1">
                <c:v>格子</c:v>
              </c:pt>
              <c:pt idx="2">
                <c:v>疎ER</c:v>
              </c:pt>
              <c:pt idx="3">
                <c:v>BA</c:v>
              </c:pt>
              <c:pt idx="4">
                <c:v>AstroPh</c:v>
              </c:pt>
              <c:pt idx="5">
                <c:v>HepPh</c:v>
              </c:pt>
              <c:pt idx="6">
                <c:v>soc</c:v>
              </c:pt>
              <c:pt idx="7">
                <c:v>密ER</c:v>
              </c:pt>
              <c:pt idx="8">
                <c:v>Moon-Moser</c:v>
              </c:pt>
              <c:pt idx="9">
                <c:v>K300</c:v>
              </c:pt>
            </c:strLit>
          </c:cat>
          <c:val>
            <c:numLit>
              <c:formatCode>General</c:formatCode>
              <c:ptCount val="10"/>
              <c:pt idx="0">
                <c:v>16.600000000000001</c:v>
              </c:pt>
              <c:pt idx="1">
                <c:v>6.2</c:v>
              </c:pt>
              <c:pt idx="2">
                <c:v>4.4000000000000004</c:v>
              </c:pt>
              <c:pt idx="3">
                <c:v>5.3</c:v>
              </c:pt>
              <c:pt idx="4">
                <c:v>2.6</c:v>
              </c:pt>
              <c:pt idx="5">
                <c:v>1.6</c:v>
              </c:pt>
              <c:pt idx="6">
                <c:v>1.8</c:v>
              </c:pt>
              <c:pt idx="7">
                <c:v>1.1000000000000001</c:v>
              </c:pt>
              <c:pt idx="8">
                <c:v>1.2</c:v>
              </c:pt>
              <c:pt idx="9">
                <c:v>0.4</c:v>
              </c:pt>
            </c:numLit>
          </c:val>
          <c:extLst>
            <c:ext xmlns:c16="http://schemas.microsoft.com/office/drawing/2014/chart" uri="{C3380CC4-5D6E-409C-BE32-E72D297353CC}">
              <c16:uniqueId val="{00000000-A723-F344-8EA4-B3AE44062DF4}"/>
            </c:ext>
          </c:extLst>
        </c:ser>
        <c:dLbls>
          <c:showLegendKey val="0"/>
          <c:showVal val="0"/>
          <c:showCatName val="0"/>
          <c:showSerName val="0"/>
          <c:showPercent val="0"/>
          <c:showBubbleSize val="0"/>
        </c:dLbls>
        <c:gapWidth val="150"/>
        <c:axId val="1"/>
        <c:axId val="2"/>
      </c:barChart>
      <c:catAx>
        <c:axId val="1"/>
        <c:scaling>
          <c:orientation val="minMax"/>
        </c:scaling>
        <c:delete val="0"/>
        <c:axPos val="l"/>
        <c:numFmt formatCode="General" sourceLinked="0"/>
        <c:majorTickMark val="out"/>
        <c:minorTickMark val="none"/>
        <c:tickLblPos val="nextTo"/>
        <c:crossAx val="2"/>
        <c:crosses val="autoZero"/>
        <c:auto val="1"/>
        <c:lblAlgn val="ctr"/>
        <c:lblOffset val="100"/>
        <c:noMultiLvlLbl val="1"/>
      </c:catAx>
      <c:valAx>
        <c:axId val="2"/>
        <c:scaling>
          <c:orientation val="minMax"/>
        </c:scaling>
        <c:delete val="0"/>
        <c:axPos val="b"/>
        <c:majorGridlines/>
        <c:numFmt formatCode="General" sourceLinked="1"/>
        <c:majorTickMark val="out"/>
        <c:minorTickMark val="none"/>
        <c:tickLblPos val="nextTo"/>
        <c:crossAx val="1"/>
        <c:crosses val="autoZero"/>
        <c:crossBetween val="between"/>
      </c:valAx>
    </c:plotArea>
    <c:legend>
      <c:legendPos val="b"/>
      <c:overlay val="0"/>
    </c:legend>
    <c:plotVisOnly val="1"/>
    <c:dispBlanksAs val="gap"/>
    <c:showDLblsOverMax val="1"/>
  </c:char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1"/>
  <c:style val="2"/>
  <c:chart>
    <c:title>
      <c:tx>
        <c:rich>
          <a:bodyPr/>
          <a:lstStyle/>
          <a:p>
            <a:pPr>
              <a:defRPr sz="1400" b="1"/>
            </a:pPr>
            <a:r>
              <a:rPr lang="en-US" sz="1400" b="1"/>
              <a:t>soc の列挙時間（秒）</a:t>
            </a:r>
          </a:p>
        </c:rich>
      </c:tx>
      <c:overlay val="0"/>
    </c:title>
    <c:autoTitleDeleted val="0"/>
    <c:plotArea>
      <c:layout/>
      <c:barChart>
        <c:barDir val="col"/>
        <c:grouping val="clustered"/>
        <c:varyColors val="0"/>
        <c:ser>
          <c:idx val="0"/>
          <c:order val="0"/>
          <c:tx>
            <c:v>時間</c:v>
          </c:tx>
          <c:spPr>
            <a:solidFill>
              <a:srgbClr val="1E2761"/>
            </a:solidFill>
          </c:spPr>
          <c:invertIfNegative val="0"/>
          <c:cat>
            <c:strLit>
              <c:ptCount val="5"/>
              <c:pt idx="0">
                <c:v>w=1</c:v>
              </c:pt>
              <c:pt idx="1">
                <c:v>w=2 batch512</c:v>
              </c:pt>
              <c:pt idx="2">
                <c:v>w=4 batch512</c:v>
              </c:pt>
              <c:pt idx="3">
                <c:v>w=8 batch512</c:v>
              </c:pt>
              <c:pt idx="4">
                <c:v>w=8 batch64</c:v>
              </c:pt>
            </c:strLit>
          </c:cat>
          <c:val>
            <c:numLit>
              <c:formatCode>General</c:formatCode>
              <c:ptCount val="5"/>
              <c:pt idx="0">
                <c:v>99.8</c:v>
              </c:pt>
              <c:pt idx="1">
                <c:v>69.3</c:v>
              </c:pt>
              <c:pt idx="2">
                <c:v>67.099999999999994</c:v>
              </c:pt>
              <c:pt idx="3">
                <c:v>70</c:v>
              </c:pt>
              <c:pt idx="4">
                <c:v>27.7</c:v>
              </c:pt>
            </c:numLit>
          </c:val>
          <c:extLst>
            <c:ext xmlns:c16="http://schemas.microsoft.com/office/drawing/2014/chart" uri="{C3380CC4-5D6E-409C-BE32-E72D297353CC}">
              <c16:uniqueId val="{00000000-8EF2-F54B-AB4A-C452ABEFD4B4}"/>
            </c:ext>
          </c:extLst>
        </c:ser>
        <c:dLbls>
          <c:showLegendKey val="0"/>
          <c:showVal val="0"/>
          <c:showCatName val="0"/>
          <c:showSerName val="0"/>
          <c:showPercent val="0"/>
          <c:showBubbleSize val="0"/>
        </c:dLbls>
        <c:gapWidth val="150"/>
        <c:axId val="1"/>
        <c:axId val="2"/>
      </c:barChart>
      <c:catAx>
        <c:axId val="1"/>
        <c:scaling>
          <c:orientation val="minMax"/>
        </c:scaling>
        <c:delete val="0"/>
        <c:axPos val="b"/>
        <c:numFmt formatCode="General" sourceLinked="0"/>
        <c:majorTickMark val="out"/>
        <c:minorTickMark val="none"/>
        <c:tickLblPos val="nextTo"/>
        <c:crossAx val="2"/>
        <c:crosses val="autoZero"/>
        <c:auto val="1"/>
        <c:lblAlgn val="ctr"/>
        <c:lblOffset val="100"/>
        <c:noMultiLvlLbl val="1"/>
      </c:catAx>
      <c:valAx>
        <c:axId val="2"/>
        <c:scaling>
          <c:orientation val="minMax"/>
        </c:scaling>
        <c:delete val="0"/>
        <c:axPos val="l"/>
        <c:majorGridlines/>
        <c:numFmt formatCode="General" sourceLinked="1"/>
        <c:majorTickMark val="out"/>
        <c:minorTickMark val="none"/>
        <c:tickLblPos val="nextTo"/>
        <c:crossAx val="1"/>
        <c:crosses val="autoZero"/>
        <c:crossBetween val="between"/>
      </c:valAx>
    </c:plotArea>
    <c:legend>
      <c:legendPos val="b"/>
      <c:overlay val="0"/>
    </c:legend>
    <c:plotVisOnly val="1"/>
    <c:dispBlanksAs val="gap"/>
    <c:showDLblsOverMax val="1"/>
  </c:char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1"/>
  <c:style val="2"/>
  <c:chart>
    <c:title>
      <c:tx>
        <c:rich>
          <a:bodyPr/>
          <a:lstStyle/>
          <a:p>
            <a:pPr>
              <a:defRPr sz="1400" b="1"/>
            </a:pPr>
            <a:r>
              <a:rPr lang="en-US" sz="1400" b="1"/>
              <a:t>soc の total（秒）</a:t>
            </a:r>
          </a:p>
        </c:rich>
      </c:tx>
      <c:overlay val="0"/>
    </c:title>
    <c:autoTitleDeleted val="0"/>
    <c:plotArea>
      <c:layout/>
      <c:barChart>
        <c:barDir val="col"/>
        <c:grouping val="clustered"/>
        <c:varyColors val="0"/>
        <c:ser>
          <c:idx val="0"/>
          <c:order val="0"/>
          <c:tx>
            <c:v>spawn</c:v>
          </c:tx>
          <c:spPr>
            <a:solidFill>
              <a:srgbClr val="8899BB"/>
            </a:solidFill>
          </c:spPr>
          <c:invertIfNegative val="0"/>
          <c:cat>
            <c:strLit>
              <c:ptCount val="3"/>
              <c:pt idx="0">
                <c:v>w=1</c:v>
              </c:pt>
              <c:pt idx="1">
                <c:v>w=4</c:v>
              </c:pt>
              <c:pt idx="2">
                <c:v>w=8</c:v>
              </c:pt>
            </c:strLit>
          </c:cat>
          <c:val>
            <c:numLit>
              <c:formatCode>General</c:formatCode>
              <c:ptCount val="3"/>
              <c:pt idx="0">
                <c:v>126.7</c:v>
              </c:pt>
              <c:pt idx="1">
                <c:v>49.4</c:v>
              </c:pt>
              <c:pt idx="2">
                <c:v>37.799999999999997</c:v>
              </c:pt>
            </c:numLit>
          </c:val>
          <c:extLst>
            <c:ext xmlns:c16="http://schemas.microsoft.com/office/drawing/2014/chart" uri="{C3380CC4-5D6E-409C-BE32-E72D297353CC}">
              <c16:uniqueId val="{00000000-5F95-C743-8BEC-CA0562A6998F}"/>
            </c:ext>
          </c:extLst>
        </c:ser>
        <c:ser>
          <c:idx val="1"/>
          <c:order val="1"/>
          <c:tx>
            <c:v>fork</c:v>
          </c:tx>
          <c:spPr>
            <a:solidFill>
              <a:srgbClr val="CADCFC"/>
            </a:solidFill>
          </c:spPr>
          <c:invertIfNegative val="0"/>
          <c:cat>
            <c:strLit>
              <c:ptCount val="3"/>
              <c:pt idx="0">
                <c:v>w=1</c:v>
              </c:pt>
              <c:pt idx="1">
                <c:v>w=4</c:v>
              </c:pt>
              <c:pt idx="2">
                <c:v>w=8</c:v>
              </c:pt>
            </c:strLit>
          </c:cat>
          <c:val>
            <c:numLit>
              <c:formatCode>General</c:formatCode>
              <c:ptCount val="3"/>
              <c:pt idx="0">
                <c:v>96.5</c:v>
              </c:pt>
              <c:pt idx="1">
                <c:v>36.5</c:v>
              </c:pt>
              <c:pt idx="2">
                <c:v>31.7</c:v>
              </c:pt>
            </c:numLit>
          </c:val>
          <c:extLst>
            <c:ext xmlns:c16="http://schemas.microsoft.com/office/drawing/2014/chart" uri="{C3380CC4-5D6E-409C-BE32-E72D297353CC}">
              <c16:uniqueId val="{00000001-5F95-C743-8BEC-CA0562A6998F}"/>
            </c:ext>
          </c:extLst>
        </c:ser>
        <c:ser>
          <c:idx val="2"/>
          <c:order val="2"/>
          <c:tx>
            <c:v>shm</c:v>
          </c:tx>
          <c:spPr>
            <a:solidFill>
              <a:srgbClr val="1E2761"/>
            </a:solidFill>
          </c:spPr>
          <c:invertIfNegative val="0"/>
          <c:cat>
            <c:strLit>
              <c:ptCount val="3"/>
              <c:pt idx="0">
                <c:v>w=1</c:v>
              </c:pt>
              <c:pt idx="1">
                <c:v>w=4</c:v>
              </c:pt>
              <c:pt idx="2">
                <c:v>w=8</c:v>
              </c:pt>
            </c:strLit>
          </c:cat>
          <c:val>
            <c:numLit>
              <c:formatCode>General</c:formatCode>
              <c:ptCount val="3"/>
              <c:pt idx="0">
                <c:v>85.9</c:v>
              </c:pt>
              <c:pt idx="1">
                <c:v>30.9</c:v>
              </c:pt>
              <c:pt idx="2">
                <c:v>26.5</c:v>
              </c:pt>
            </c:numLit>
          </c:val>
          <c:extLst>
            <c:ext xmlns:c16="http://schemas.microsoft.com/office/drawing/2014/chart" uri="{C3380CC4-5D6E-409C-BE32-E72D297353CC}">
              <c16:uniqueId val="{00000002-5F95-C743-8BEC-CA0562A6998F}"/>
            </c:ext>
          </c:extLst>
        </c:ser>
        <c:dLbls>
          <c:showLegendKey val="0"/>
          <c:showVal val="0"/>
          <c:showCatName val="0"/>
          <c:showSerName val="0"/>
          <c:showPercent val="0"/>
          <c:showBubbleSize val="0"/>
        </c:dLbls>
        <c:gapWidth val="150"/>
        <c:axId val="1"/>
        <c:axId val="2"/>
      </c:barChart>
      <c:catAx>
        <c:axId val="1"/>
        <c:scaling>
          <c:orientation val="minMax"/>
        </c:scaling>
        <c:delete val="0"/>
        <c:axPos val="b"/>
        <c:numFmt formatCode="General" sourceLinked="0"/>
        <c:majorTickMark val="out"/>
        <c:minorTickMark val="none"/>
        <c:tickLblPos val="nextTo"/>
        <c:crossAx val="2"/>
        <c:crosses val="autoZero"/>
        <c:auto val="1"/>
        <c:lblAlgn val="ctr"/>
        <c:lblOffset val="100"/>
        <c:noMultiLvlLbl val="1"/>
      </c:catAx>
      <c:valAx>
        <c:axId val="2"/>
        <c:scaling>
          <c:orientation val="minMax"/>
        </c:scaling>
        <c:delete val="0"/>
        <c:axPos val="l"/>
        <c:majorGridlines/>
        <c:numFmt formatCode="General" sourceLinked="1"/>
        <c:majorTickMark val="out"/>
        <c:minorTickMark val="none"/>
        <c:tickLblPos val="nextTo"/>
        <c:crossAx val="1"/>
        <c:crosses val="autoZero"/>
        <c:crossBetween val="between"/>
      </c:valAx>
    </c:plotArea>
    <c:legend>
      <c:legendPos val="b"/>
      <c:overlay val="0"/>
    </c:legend>
    <c:plotVisOnly val="1"/>
    <c:dispBlanksAs val="gap"/>
    <c:showDLblsOverMax val="1"/>
  </c:chart>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6720242"/>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タイトルの一言: 速いアルゴリズムを並列化したら、何が性能を決めるのかを実測で一つずつ特定した研究です。</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応用と問題設定。列挙は出力量に敏感で、数え上げるだけでも分オーダーになることを伝える。</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アルゴリズムの系譜を30秒で。式は読み上げず、疎なグラフほど速い、最外層が独立、の2点だけ。</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測定対象の10グラフと環境を提示。ここからは全部この条件での実測です。</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横棒は Tomita 時間÷Eppstein 時間。1を超えるほど Eppstein 有利で、疎なグラフほど倍率が大きい。</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worker数を増やしても頭打ち。原因は仕事の偏り。バッチを細かくすると解消した。</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逐次部分は無視できるほど小さいが、startupの固定費と計算時間の短さが並列化を損にするケースがある。</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idleを消しても速度は変わらず、busy時間は増えた。スケジューリングではなくハードウェア側に原因があると分かった。</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PコアとEコアの速度差を実測でモデル化。効率92%まで説明でき、配り方の改善余地は小さいと分かった。</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起動方式をspawnからforkに変えるとstartupがほぼ消え、それまで損だった小さいグラフでも並列化が得になった。</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forkはstartupが安いが、compute自体はshmより遅い。copy-on-writeの遅延コストが疑われるが未検証の仮説として提示する。</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最終的にsoc totalは96.5秒から26.5秒まで縮んだ。この改善は複数の要因を一つずつ測定で切り分けた結果だと締める。</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残る課題を4点提示して締める。動的スケジューリング、CoW仮説の検証、Eコア実クロック測定、CSR化と内部分割。</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p:cNvSpPr>
            <a:spLocks noGrp="1"/>
          </p:cNvSpPr>
          <p:nvPr>
            <p:ph type="ctrTitle"/>
          </p:nvPr>
        </p:nvSpPr>
        <p:spPr>
          <a:xfrm>
            <a:off x="685800" y="2130425"/>
            <a:ext cx="7772400" cy="1470025"/>
          </a:xfrm>
        </p:spPr>
        <p:txBody>
          <a:bodyPr/>
          <a:lstStyle/>
          <a:p>
            <a:endParaRPr lang="en-US"/>
          </a:p>
        </p:txBody>
      </p:sp>
      <p:sp>
        <p:nvSpPr>
          <p:cNvPr id="3" name="Subtitle"/>
          <p:cNvSpPr>
            <a:spLocks noGrp="1"/>
          </p:cNvSpPr>
          <p:nvPr>
            <p:ph type="subTitle" idx="1"/>
          </p:nvPr>
        </p:nvSpPr>
        <p:spPr>
          <a:xfrm>
            <a:off x="1371600" y="3886200"/>
            <a:ext cx="6400800" cy="1752600"/>
          </a:xfrm>
        </p:spPr>
        <p:txBody>
          <a:bodyPr/>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Tx">
  <p:cSld name="Title and Content">
    <p:spTree>
      <p:nvGrpSpPr>
        <p:cNvPr id="1" name=""/>
        <p:cNvGrpSpPr/>
        <p:nvPr/>
      </p:nvGrpSpPr>
      <p:grpSpPr>
        <a:xfrm>
          <a:off x="0" y="0"/>
          <a:ext cx="0" cy="0"/>
          <a:chOff x="0" y="0"/>
          <a:chExt cx="0" cy="0"/>
        </a:xfrm>
      </p:grpSpPr>
      <p:sp>
        <p:nvSpPr>
          <p:cNvPr id="2" name="Title"/>
          <p:cNvSpPr>
            <a:spLocks noGrp="1"/>
          </p:cNvSpPr>
          <p:nvPr>
            <p:ph type="title"/>
          </p:nvPr>
        </p:nvSpPr>
        <p:spPr>
          <a:xfrm>
            <a:off x="838200" y="365125"/>
            <a:ext cx="10515600" cy="1325563"/>
          </a:xfrm>
        </p:spPr>
        <p:txBody>
          <a:bodyPr/>
          <a:lstStyle/>
          <a:p>
            <a:endParaRPr lang="en-US"/>
          </a:p>
        </p:txBody>
      </p:sp>
      <p:sp>
        <p:nvSpPr>
          <p:cNvPr id="3" name="Content"/>
          <p:cNvSpPr>
            <a:spLocks noGrp="1"/>
          </p:cNvSpPr>
          <p:nvPr>
            <p:ph type="body" idx="1"/>
          </p:nvPr>
        </p:nvSpPr>
        <p:spPr>
          <a:xfrm>
            <a:off x="838200" y="1825625"/>
            <a:ext cx="10515600" cy="4351338"/>
          </a:xfrm>
        </p:spPr>
        <p:txBody>
          <a:bodyPr/>
          <a:lstStyle/>
          <a:p>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ColTx">
  <p:cSld name="Two Content">
    <p:spTree>
      <p:nvGrpSpPr>
        <p:cNvPr id="1" name=""/>
        <p:cNvGrpSpPr/>
        <p:nvPr/>
      </p:nvGrpSpPr>
      <p:grpSpPr>
        <a:xfrm>
          <a:off x="0" y="0"/>
          <a:ext cx="0" cy="0"/>
          <a:chOff x="0" y="0"/>
          <a:chExt cx="0" cy="0"/>
        </a:xfrm>
      </p:grpSpPr>
      <p:sp>
        <p:nvSpPr>
          <p:cNvPr id="2" name="Title"/>
          <p:cNvSpPr>
            <a:spLocks noGrp="1"/>
          </p:cNvSpPr>
          <p:nvPr>
            <p:ph type="title"/>
          </p:nvPr>
        </p:nvSpPr>
        <p:spPr>
          <a:xfrm>
            <a:off x="838200" y="365125"/>
            <a:ext cx="10515600" cy="1325563"/>
          </a:xfrm>
        </p:spPr>
        <p:txBody>
          <a:bodyPr/>
          <a:lstStyle/>
          <a:p>
            <a:endParaRPr lang="en-US"/>
          </a:p>
        </p:txBody>
      </p:sp>
      <p:sp>
        <p:nvSpPr>
          <p:cNvPr id="3" name="Content Left"/>
          <p:cNvSpPr>
            <a:spLocks noGrp="1"/>
          </p:cNvSpPr>
          <p:nvPr>
            <p:ph type="body" idx="1"/>
          </p:nvPr>
        </p:nvSpPr>
        <p:spPr>
          <a:xfrm>
            <a:off x="838200" y="1825625"/>
            <a:ext cx="5181600" cy="4351338"/>
          </a:xfrm>
        </p:spPr>
        <p:txBody>
          <a:bodyPr/>
          <a:lstStyle/>
          <a:p>
            <a:endParaRPr lang="en-US"/>
          </a:p>
        </p:txBody>
      </p:sp>
      <p:sp>
        <p:nvSpPr>
          <p:cNvPr id="4" name="Content Right"/>
          <p:cNvSpPr>
            <a:spLocks noGrp="1"/>
          </p:cNvSpPr>
          <p:nvPr>
            <p:ph type="body" idx="2"/>
          </p:nvPr>
        </p:nvSpPr>
        <p:spPr>
          <a:xfrm>
            <a:off x="6172200" y="1825625"/>
            <a:ext cx="5181600" cy="4351338"/>
          </a:xfrm>
        </p:spPr>
        <p:txBody>
          <a:bodyPr/>
          <a:lstStyle/>
          <a:p>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p:cNvSpPr>
            <a:spLocks noGrp="1"/>
          </p:cNvSpPr>
          <p:nvPr>
            <p:ph type="title"/>
          </p:nvPr>
        </p:nvSpPr>
        <p:spPr>
          <a:xfrm>
            <a:off x="838200" y="365125"/>
            <a:ext cx="10515600" cy="1325563"/>
          </a:xfrm>
        </p:spPr>
        <p:txBody>
          <a:bodyPr/>
          <a:lstStyle/>
          <a:p>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100000" name="TextBox 1"/>
          <p:cNvSpPr txBox="1"/>
          <p:nvPr/>
        </p:nvSpPr>
        <p:spPr>
          <a:xfrm>
            <a:off x="720000" y="2232000"/>
            <a:ext cx="10753200" cy="936000"/>
          </a:xfrm>
          <a:prstGeom prst="rect">
            <a:avLst/>
          </a:prstGeom>
        </p:spPr>
        <p:txBody>
          <a:bodyPr/>
          <a:lstStyle/>
          <a:p>
            <a:pPr algn="ctr"/>
            <a:r>
              <a:rPr lang="en-US" sz="4000" b="1">
                <a:solidFill>
                  <a:srgbClr val="FFFFFF"/>
                </a:solidFill>
                <a:latin typeface="Hiragino Sans"/>
                <a:ea typeface="Hiragino Sans"/>
              </a:rPr>
              <a:t>極大クリーク列挙の並列化</a:t>
            </a:r>
          </a:p>
        </p:txBody>
      </p:sp>
      <p:sp>
        <p:nvSpPr>
          <p:cNvPr id="100001" name="TextBox 2"/>
          <p:cNvSpPr txBox="1"/>
          <p:nvPr/>
        </p:nvSpPr>
        <p:spPr>
          <a:xfrm>
            <a:off x="720000" y="3312000"/>
            <a:ext cx="10753200" cy="504000"/>
          </a:xfrm>
          <a:prstGeom prst="rect">
            <a:avLst/>
          </a:prstGeom>
        </p:spPr>
        <p:txBody>
          <a:bodyPr/>
          <a:lstStyle/>
          <a:p>
            <a:pPr algn="ctr"/>
            <a:r>
              <a:rPr lang="en-US" sz="2000">
                <a:solidFill>
                  <a:srgbClr val="CADCFC"/>
                </a:solidFill>
                <a:latin typeface="Hiragino Sans"/>
                <a:ea typeface="Hiragino Sans"/>
              </a:rPr>
              <a:t>Eppstein アルゴリズムの最外層並列化と性能限界の実測分析</a:t>
            </a:r>
          </a:p>
        </p:txBody>
      </p:sp>
      <p:sp>
        <p:nvSpPr>
          <p:cNvPr id="100002" name="TextBox 3"/>
          <p:cNvSpPr txBox="1"/>
          <p:nvPr/>
        </p:nvSpPr>
        <p:spPr>
          <a:xfrm>
            <a:off x="720000" y="4464000"/>
            <a:ext cx="10753200" cy="432000"/>
          </a:xfrm>
          <a:prstGeom prst="rect">
            <a:avLst/>
          </a:prstGeom>
        </p:spPr>
        <p:txBody>
          <a:bodyPr/>
          <a:lstStyle/>
          <a:p>
            <a:pPr algn="ctr"/>
            <a:r>
              <a:rPr lang="en-US" sz="1600">
                <a:solidFill>
                  <a:srgbClr val="CADCFC"/>
                </a:solidFill>
                <a:latin typeface="Hiragino Sans"/>
                <a:ea typeface="Hiragino Sans"/>
              </a:rPr>
              <a:t>中島 蒼　　卒業論文発表　　2027年2月</a:t>
            </a:r>
          </a:p>
        </p:txBody>
      </p:sp>
      <p:sp>
        <p:nvSpPr>
          <p:cNvPr id="100003" name="TextBox 4"/>
          <p:cNvSpPr txBox="1"/>
          <p:nvPr/>
        </p:nvSpPr>
        <p:spPr>
          <a:xfrm>
            <a:off x="720000" y="5616000"/>
            <a:ext cx="10753200" cy="360000"/>
          </a:xfrm>
          <a:prstGeom prst="rect">
            <a:avLst/>
          </a:prstGeom>
        </p:spPr>
        <p:txBody>
          <a:bodyPr/>
          <a:lstStyle/>
          <a:p>
            <a:pPr algn="ctr"/>
            <a:r>
              <a:rPr lang="en-US" sz="1400">
                <a:solidFill>
                  <a:srgbClr val="8899BB"/>
                </a:solidFill>
                <a:latin typeface="Hiragino Sans"/>
                <a:ea typeface="Hiragino Sans"/>
              </a:rPr>
              <a:t>逐次96秒の列挙を、測定で原因を特定しながら26.5秒まで縮めた</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004" name="TextBox 1"/>
          <p:cNvSpPr txBox="1"/>
          <p:nvPr/>
        </p:nvSpPr>
        <p:spPr>
          <a:xfrm>
            <a:off x="540000" y="360000"/>
            <a:ext cx="11113200" cy="648000"/>
          </a:xfrm>
          <a:prstGeom prst="rect">
            <a:avLst/>
          </a:prstGeom>
        </p:spPr>
        <p:txBody>
          <a:bodyPr/>
          <a:lstStyle/>
          <a:p>
            <a:r>
              <a:rPr lang="en-US" sz="3000" b="1" dirty="0" err="1">
                <a:solidFill>
                  <a:srgbClr val="1E2761"/>
                </a:solidFill>
                <a:latin typeface="Hiragino Sans"/>
                <a:ea typeface="Hiragino Sans"/>
              </a:rPr>
              <a:t>極大クリーク列挙を速くしたい</a:t>
            </a:r>
            <a:endParaRPr lang="en-US" sz="3000" b="1" dirty="0">
              <a:solidFill>
                <a:srgbClr val="1E2761"/>
              </a:solidFill>
              <a:latin typeface="Hiragino Sans"/>
              <a:ea typeface="Hiragino Sans"/>
            </a:endParaRPr>
          </a:p>
        </p:txBody>
      </p:sp>
      <p:sp>
        <p:nvSpPr>
          <p:cNvPr id="100005" name="TextBox 2"/>
          <p:cNvSpPr txBox="1"/>
          <p:nvPr/>
        </p:nvSpPr>
        <p:spPr>
          <a:xfrm>
            <a:off x="540000" y="1368000"/>
            <a:ext cx="6480000" cy="4320000"/>
          </a:xfrm>
          <a:prstGeom prst="rect">
            <a:avLst/>
          </a:prstGeom>
        </p:spPr>
        <p:txBody>
          <a:bodyPr/>
          <a:lstStyle/>
          <a:p>
            <a:r>
              <a:rPr lang="en-US" sz="2000" dirty="0" err="1">
                <a:solidFill>
                  <a:srgbClr val="333333"/>
                </a:solidFill>
                <a:latin typeface="Hiragino Sans"/>
                <a:ea typeface="Hiragino Sans"/>
              </a:rPr>
              <a:t>極大クリークは「これ以上広げられない」完全部分グラフ</a:t>
            </a:r>
            <a:r>
              <a:rPr lang="en-US" sz="2000" dirty="0">
                <a:solidFill>
                  <a:srgbClr val="333333"/>
                </a:solidFill>
                <a:latin typeface="Hiragino Sans"/>
                <a:ea typeface="Hiragino Sans"/>
              </a:rPr>
              <a:t>。</a:t>
            </a:r>
          </a:p>
          <a:p>
            <a:r>
              <a:rPr lang="en-US" sz="2000" dirty="0">
                <a:solidFill>
                  <a:srgbClr val="333333"/>
                </a:solidFill>
                <a:latin typeface="Hiragino Sans"/>
                <a:ea typeface="Hiragino Sans"/>
              </a:rPr>
              <a:t>SNS </a:t>
            </a:r>
            <a:r>
              <a:rPr lang="en-US" sz="2000" dirty="0" err="1">
                <a:solidFill>
                  <a:srgbClr val="333333"/>
                </a:solidFill>
                <a:latin typeface="Hiragino Sans"/>
                <a:ea typeface="Hiragino Sans"/>
              </a:rPr>
              <a:t>のコミュニティ抽出などデータ分析の基本操作</a:t>
            </a:r>
            <a:r>
              <a:rPr lang="en-US" sz="2000" dirty="0">
                <a:solidFill>
                  <a:srgbClr val="333333"/>
                </a:solidFill>
                <a:latin typeface="Hiragino Sans"/>
                <a:ea typeface="Hiragino Sans"/>
              </a:rPr>
              <a:t>。</a:t>
            </a:r>
          </a:p>
          <a:p>
            <a:endParaRPr lang="en-US" sz="2000" dirty="0">
              <a:solidFill>
                <a:srgbClr val="333333"/>
              </a:solidFill>
              <a:latin typeface="Hiragino Sans"/>
              <a:ea typeface="Hiragino Sans"/>
            </a:endParaRPr>
          </a:p>
          <a:p>
            <a:r>
              <a:rPr lang="en-US" sz="2000" dirty="0" err="1">
                <a:solidFill>
                  <a:srgbClr val="333333"/>
                </a:solidFill>
                <a:latin typeface="Hiragino Sans"/>
                <a:ea typeface="Hiragino Sans"/>
              </a:rPr>
              <a:t>実行時間は出力の個数に敏感</a:t>
            </a:r>
            <a:r>
              <a:rPr lang="en-US" sz="2000" dirty="0">
                <a:solidFill>
                  <a:srgbClr val="333333"/>
                </a:solidFill>
                <a:latin typeface="Hiragino Sans"/>
                <a:ea typeface="Hiragino Sans"/>
              </a:rPr>
              <a:t>。</a:t>
            </a:r>
          </a:p>
          <a:p>
            <a:r>
              <a:rPr lang="en-US" sz="2000" dirty="0">
                <a:solidFill>
                  <a:srgbClr val="333333"/>
                </a:solidFill>
                <a:latin typeface="Hiragino Sans"/>
                <a:ea typeface="Hiragino Sans"/>
              </a:rPr>
              <a:t>soc-sign-epinions（13万頂点）では逐次で約96秒かかる。</a:t>
            </a:r>
          </a:p>
          <a:p>
            <a:endParaRPr lang="en-US" sz="2000" dirty="0">
              <a:solidFill>
                <a:srgbClr val="333333"/>
              </a:solidFill>
              <a:latin typeface="Hiragino Sans"/>
              <a:ea typeface="Hiragino Sans"/>
            </a:endParaRPr>
          </a:p>
          <a:p>
            <a:r>
              <a:rPr lang="en-US" sz="2000" dirty="0" err="1">
                <a:solidFill>
                  <a:srgbClr val="333333"/>
                </a:solidFill>
                <a:latin typeface="Hiragino Sans"/>
                <a:ea typeface="Hiragino Sans"/>
              </a:rPr>
              <a:t>目的</a:t>
            </a:r>
            <a:r>
              <a:rPr lang="en-US" sz="2000" dirty="0">
                <a:solidFill>
                  <a:srgbClr val="333333"/>
                </a:solidFill>
                <a:latin typeface="Hiragino Sans"/>
                <a:ea typeface="Hiragino Sans"/>
              </a:rPr>
              <a:t>: </a:t>
            </a:r>
            <a:r>
              <a:rPr lang="en-US" sz="2000" dirty="0" err="1">
                <a:solidFill>
                  <a:srgbClr val="333333"/>
                </a:solidFill>
                <a:latin typeface="Hiragino Sans"/>
                <a:ea typeface="Hiragino Sans"/>
              </a:rPr>
              <a:t>並列化で短縮する。そして</a:t>
            </a:r>
            <a:r>
              <a:rPr lang="en-US" sz="2000" dirty="0">
                <a:solidFill>
                  <a:srgbClr val="333333"/>
                </a:solidFill>
                <a:latin typeface="Hiragino Sans"/>
                <a:ea typeface="Hiragino Sans"/>
              </a:rPr>
              <a:t>、</a:t>
            </a:r>
          </a:p>
          <a:p>
            <a:r>
              <a:rPr lang="en-US" sz="2000" dirty="0" err="1">
                <a:solidFill>
                  <a:srgbClr val="333333"/>
                </a:solidFill>
                <a:latin typeface="Hiragino Sans"/>
                <a:ea typeface="Hiragino Sans"/>
              </a:rPr>
              <a:t>性能を決める要因を実測で特定する</a:t>
            </a:r>
            <a:r>
              <a:rPr lang="en-US" sz="2000" dirty="0">
                <a:solidFill>
                  <a:srgbClr val="333333"/>
                </a:solidFill>
                <a:latin typeface="Hiragino Sans"/>
                <a:ea typeface="Hiragino Sans"/>
              </a:rPr>
              <a:t>。</a:t>
            </a:r>
          </a:p>
        </p:txBody>
      </p:sp>
      <p:sp>
        <p:nvSpPr>
          <p:cNvPr id="100006" name="StatCard2"/>
          <p:cNvSpPr/>
          <p:nvPr/>
        </p:nvSpPr>
        <p:spPr>
          <a:xfrm>
            <a:off x="7560000" y="1620000"/>
            <a:ext cx="4104000" cy="3240000"/>
          </a:xfrm>
          <a:prstGeom prst="roundRect">
            <a:avLst/>
          </a:prstGeom>
          <a:solidFill>
            <a:srgbClr val="F5F7FA"/>
          </a:solidFill>
          <a:ln>
            <a:noFill/>
          </a:ln>
        </p:spPr>
        <p:txBody>
          <a:bodyPr/>
          <a:lstStyle/>
          <a:p>
            <a:endParaRPr/>
          </a:p>
        </p:txBody>
      </p:sp>
      <p:sp>
        <p:nvSpPr>
          <p:cNvPr id="100007" name="TextBox 4"/>
          <p:cNvSpPr txBox="1"/>
          <p:nvPr/>
        </p:nvSpPr>
        <p:spPr>
          <a:xfrm>
            <a:off x="7740000" y="2340000"/>
            <a:ext cx="3744000" cy="1008000"/>
          </a:xfrm>
          <a:prstGeom prst="rect">
            <a:avLst/>
          </a:prstGeom>
        </p:spPr>
        <p:txBody>
          <a:bodyPr/>
          <a:lstStyle/>
          <a:p>
            <a:pPr algn="ctr"/>
            <a:r>
              <a:rPr lang="en-US" sz="5400" b="1">
                <a:solidFill>
                  <a:srgbClr val="1E2761"/>
                </a:solidFill>
                <a:latin typeface="Hiragino Sans"/>
                <a:ea typeface="Hiragino Sans"/>
              </a:rPr>
              <a:t>2,223万</a:t>
            </a:r>
          </a:p>
        </p:txBody>
      </p:sp>
      <p:sp>
        <p:nvSpPr>
          <p:cNvPr id="100008" name="TextBox 5"/>
          <p:cNvSpPr txBox="1"/>
          <p:nvPr/>
        </p:nvSpPr>
        <p:spPr>
          <a:xfrm>
            <a:off x="7740000" y="3456000"/>
            <a:ext cx="3744000" cy="432000"/>
          </a:xfrm>
          <a:prstGeom prst="rect">
            <a:avLst/>
          </a:prstGeom>
        </p:spPr>
        <p:txBody>
          <a:bodyPr/>
          <a:lstStyle/>
          <a:p>
            <a:pPr algn="ctr"/>
            <a:r>
              <a:rPr lang="en-US" sz="1400">
                <a:solidFill>
                  <a:srgbClr val="8899BB"/>
                </a:solidFill>
                <a:latin typeface="Hiragino Sans"/>
                <a:ea typeface="Hiragino Sans"/>
              </a:rPr>
              <a:t>soc-sign-epinions の極大クリーク数</a:t>
            </a:r>
          </a:p>
        </p:txBody>
      </p:sp>
      <p:sp>
        <p:nvSpPr>
          <p:cNvPr id="100089" name="TextBox 6"/>
          <p:cNvSpPr/>
          <p:nvPr/>
        </p:nvSpPr>
        <p:spPr>
          <a:xfrm>
            <a:off x="11592000" y="6336000"/>
            <a:ext cx="360000" cy="360000"/>
          </a:xfrm>
          <a:prstGeom prst="ellipse">
            <a:avLst/>
          </a:prstGeom>
          <a:solidFill>
            <a:srgbClr val="1E2761"/>
          </a:solidFill>
          <a:ln>
            <a:noFill/>
          </a:ln>
        </p:spPr>
        <p:txBody>
          <a:bodyPr anchor="ctr"/>
          <a:lstStyle/>
          <a:p>
            <a:pPr algn="ctr"/>
            <a:r>
              <a:rPr lang="en-US" sz="1200">
                <a:solidFill>
                  <a:srgbClr val="FFFFFF"/>
                </a:solidFill>
                <a:latin typeface="Hiragino Sans"/>
                <a:ea typeface="Hiragino Sans"/>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009" name="TextBox 1"/>
          <p:cNvSpPr txBox="1"/>
          <p:nvPr/>
        </p:nvSpPr>
        <p:spPr>
          <a:xfrm>
            <a:off x="540000" y="360000"/>
            <a:ext cx="11113200" cy="648000"/>
          </a:xfrm>
          <a:prstGeom prst="rect">
            <a:avLst/>
          </a:prstGeom>
        </p:spPr>
        <p:txBody>
          <a:bodyPr/>
          <a:lstStyle/>
          <a:p>
            <a:r>
              <a:rPr lang="en-US" sz="3000" b="1">
                <a:solidFill>
                  <a:srgbClr val="1E2761"/>
                </a:solidFill>
                <a:latin typeface="Hiragino Sans"/>
                <a:ea typeface="Hiragino Sans"/>
              </a:rPr>
              <a:t>Eppstein 法は最外層が独立に分かれる</a:t>
            </a:r>
          </a:p>
        </p:txBody>
      </p:sp>
      <p:sp>
        <p:nvSpPr>
          <p:cNvPr id="100010" name="Alg1"/>
          <p:cNvSpPr/>
          <p:nvPr/>
        </p:nvSpPr>
        <p:spPr>
          <a:xfrm>
            <a:off x="540000" y="1980000"/>
            <a:ext cx="3060000" cy="1620000"/>
          </a:xfrm>
          <a:prstGeom prst="roundRect">
            <a:avLst/>
          </a:prstGeom>
          <a:solidFill>
            <a:srgbClr val="CADCFC"/>
          </a:solidFill>
          <a:ln>
            <a:noFill/>
          </a:ln>
        </p:spPr>
        <p:txBody>
          <a:bodyPr anchor="ctr"/>
          <a:lstStyle/>
          <a:p>
            <a:pPr algn="ctr"/>
            <a:r>
              <a:rPr lang="en-US" sz="1800" b="1">
                <a:solidFill>
                  <a:srgbClr val="1E2761"/>
                </a:solidFill>
                <a:latin typeface="Hiragino Sans"/>
                <a:ea typeface="Hiragino Sans"/>
              </a:rPr>
              <a:t>Bron–Kerbosch</a:t>
            </a:r>
          </a:p>
          <a:p>
            <a:pPr algn="ctr"/>
            <a:r>
              <a:rPr lang="en-US" sz="1800" b="1">
                <a:solidFill>
                  <a:srgbClr val="1E2761"/>
                </a:solidFill>
                <a:latin typeface="Hiragino Sans"/>
                <a:ea typeface="Hiragino Sans"/>
              </a:rPr>
              <a:t>全列挙の基本形</a:t>
            </a:r>
          </a:p>
        </p:txBody>
      </p:sp>
      <p:sp>
        <p:nvSpPr>
          <p:cNvPr id="100011" name="Alg2"/>
          <p:cNvSpPr/>
          <p:nvPr/>
        </p:nvSpPr>
        <p:spPr>
          <a:xfrm>
            <a:off x="4568400" y="1980000"/>
            <a:ext cx="3060000" cy="1620000"/>
          </a:xfrm>
          <a:prstGeom prst="roundRect">
            <a:avLst/>
          </a:prstGeom>
          <a:solidFill>
            <a:srgbClr val="CADCFC"/>
          </a:solidFill>
          <a:ln>
            <a:noFill/>
          </a:ln>
        </p:spPr>
        <p:txBody>
          <a:bodyPr anchor="ctr"/>
          <a:lstStyle/>
          <a:p>
            <a:pPr algn="ctr"/>
            <a:r>
              <a:rPr lang="en-US" sz="1800" b="1">
                <a:solidFill>
                  <a:srgbClr val="1E2761"/>
                </a:solidFill>
                <a:latin typeface="Hiragino Sans"/>
                <a:ea typeface="Hiragino Sans"/>
              </a:rPr>
              <a:t>CLIQUES（Tomita）</a:t>
            </a:r>
          </a:p>
          <a:p>
            <a:pPr algn="ctr"/>
            <a:r>
              <a:rPr lang="en-US" sz="1800" b="1">
                <a:solidFill>
                  <a:srgbClr val="1E2761"/>
                </a:solidFill>
                <a:latin typeface="Hiragino Sans"/>
                <a:ea typeface="Hiragino Sans"/>
              </a:rPr>
              <a:t>ピボットで最悪 O(3^(n/3))</a:t>
            </a:r>
          </a:p>
        </p:txBody>
      </p:sp>
      <p:sp>
        <p:nvSpPr>
          <p:cNvPr id="100012" name="Alg3"/>
          <p:cNvSpPr/>
          <p:nvPr/>
        </p:nvSpPr>
        <p:spPr>
          <a:xfrm>
            <a:off x="8593200" y="1980000"/>
            <a:ext cx="3060000" cy="1620000"/>
          </a:xfrm>
          <a:prstGeom prst="roundRect">
            <a:avLst/>
          </a:prstGeom>
          <a:solidFill>
            <a:srgbClr val="1E2761"/>
          </a:solidFill>
          <a:ln>
            <a:noFill/>
          </a:ln>
        </p:spPr>
        <p:txBody>
          <a:bodyPr anchor="ctr"/>
          <a:lstStyle/>
          <a:p>
            <a:pPr algn="ctr"/>
            <a:r>
              <a:rPr lang="en-US" sz="1800" b="1">
                <a:solidFill>
                  <a:srgbClr val="FFFFFF"/>
                </a:solidFill>
                <a:latin typeface="Hiragino Sans"/>
                <a:ea typeface="Hiragino Sans"/>
              </a:rPr>
              <a:t>Eppstein</a:t>
            </a:r>
          </a:p>
          <a:p>
            <a:pPr algn="ctr"/>
            <a:r>
              <a:rPr lang="en-US" sz="1800" b="1">
                <a:solidFill>
                  <a:srgbClr val="FFFFFF"/>
                </a:solidFill>
                <a:latin typeface="Hiragino Sans"/>
                <a:ea typeface="Hiragino Sans"/>
              </a:rPr>
              <a:t>縮退順序で O(d·n·3^(d/3))</a:t>
            </a:r>
          </a:p>
        </p:txBody>
      </p:sp>
      <p:sp>
        <p:nvSpPr>
          <p:cNvPr id="100013" name="TextBox 5"/>
          <p:cNvSpPr txBox="1"/>
          <p:nvPr/>
        </p:nvSpPr>
        <p:spPr>
          <a:xfrm>
            <a:off x="540000" y="4392000"/>
            <a:ext cx="11113200" cy="1080000"/>
          </a:xfrm>
          <a:prstGeom prst="rect">
            <a:avLst/>
          </a:prstGeom>
        </p:spPr>
        <p:txBody>
          <a:bodyPr/>
          <a:lstStyle/>
          <a:p>
            <a:r>
              <a:rPr lang="en-US" sz="2000">
                <a:solidFill>
                  <a:srgbClr val="333333"/>
                </a:solidFill>
                <a:latin typeface="Hiragino Sans"/>
                <a:ea typeface="Hiragino Sans"/>
              </a:rPr>
              <a:t>縮退順序の各頂点を根とする n 個のサブ問題は互いに独立。</a:t>
            </a:r>
          </a:p>
          <a:p>
            <a:r>
              <a:rPr lang="en-US" sz="2000">
                <a:solidFill>
                  <a:srgbClr val="333333"/>
                </a:solidFill>
                <a:latin typeface="Hiragino Sans"/>
                <a:ea typeface="Hiragino Sans"/>
              </a:rPr>
              <a:t>この最外層を複数プロセスに配るのが本研究の並列化。</a:t>
            </a:r>
          </a:p>
        </p:txBody>
      </p:sp>
      <p:sp>
        <p:nvSpPr>
          <p:cNvPr id="100090" name="TextBox 6"/>
          <p:cNvSpPr/>
          <p:nvPr/>
        </p:nvSpPr>
        <p:spPr>
          <a:xfrm>
            <a:off x="11592000" y="6336000"/>
            <a:ext cx="360000" cy="360000"/>
          </a:xfrm>
          <a:prstGeom prst="ellipse">
            <a:avLst/>
          </a:prstGeom>
          <a:solidFill>
            <a:srgbClr val="1E2761"/>
          </a:solidFill>
          <a:ln>
            <a:noFill/>
          </a:ln>
        </p:spPr>
        <p:txBody>
          <a:bodyPr anchor="ctr"/>
          <a:lstStyle/>
          <a:p>
            <a:pPr algn="ctr"/>
            <a:r>
              <a:rPr lang="en-US" sz="1200">
                <a:solidFill>
                  <a:srgbClr val="FFFFFF"/>
                </a:solidFill>
                <a:latin typeface="Hiragino Sans"/>
                <a:ea typeface="Hiragino Sans"/>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014" name="TextBox 1"/>
          <p:cNvSpPr txBox="1"/>
          <p:nvPr/>
        </p:nvSpPr>
        <p:spPr>
          <a:xfrm>
            <a:off x="540000" y="360000"/>
            <a:ext cx="11113200" cy="648000"/>
          </a:xfrm>
          <a:prstGeom prst="rect">
            <a:avLst/>
          </a:prstGeom>
        </p:spPr>
        <p:txBody>
          <a:bodyPr/>
          <a:lstStyle/>
          <a:p>
            <a:r>
              <a:rPr lang="en-US" sz="3000" b="1">
                <a:solidFill>
                  <a:srgbClr val="1E2761"/>
                </a:solidFill>
                <a:latin typeface="Hiragino Sans"/>
                <a:ea typeface="Hiragino Sans"/>
              </a:rPr>
              <a:t>疎密の異なる10グラフ × M4 で測る</a:t>
            </a:r>
          </a:p>
        </p:txBody>
      </p:sp>
      <p:sp>
        <p:nvSpPr>
          <p:cNvPr id="100015" name="CardLeft"/>
          <p:cNvSpPr/>
          <p:nvPr/>
        </p:nvSpPr>
        <p:spPr>
          <a:xfrm>
            <a:off x="540000" y="1260000"/>
            <a:ext cx="5466600" cy="5040000"/>
          </a:xfrm>
          <a:prstGeom prst="roundRect">
            <a:avLst/>
          </a:prstGeom>
          <a:solidFill>
            <a:srgbClr val="F5F7FA"/>
          </a:solidFill>
          <a:ln>
            <a:noFill/>
          </a:ln>
        </p:spPr>
        <p:txBody>
          <a:bodyPr/>
          <a:lstStyle/>
          <a:p>
            <a:endParaRPr/>
          </a:p>
        </p:txBody>
      </p:sp>
      <p:sp>
        <p:nvSpPr>
          <p:cNvPr id="100016" name="TextBox 3"/>
          <p:cNvSpPr txBox="1"/>
          <p:nvPr/>
        </p:nvSpPr>
        <p:spPr>
          <a:xfrm>
            <a:off x="792000" y="1512000"/>
            <a:ext cx="4968000" cy="504000"/>
          </a:xfrm>
          <a:prstGeom prst="rect">
            <a:avLst/>
          </a:prstGeom>
        </p:spPr>
        <p:txBody>
          <a:bodyPr/>
          <a:lstStyle/>
          <a:p>
            <a:r>
              <a:rPr lang="en-US" sz="2200" b="1">
                <a:solidFill>
                  <a:srgbClr val="1E2761"/>
                </a:solidFill>
                <a:latin typeface="Hiragino Sans"/>
                <a:ea typeface="Hiragino Sans"/>
              </a:rPr>
              <a:t>グラフ 10種</a:t>
            </a:r>
          </a:p>
        </p:txBody>
      </p:sp>
      <p:sp>
        <p:nvSpPr>
          <p:cNvPr id="100017" name="TextBox 4"/>
          <p:cNvSpPr txBox="1"/>
          <p:nvPr/>
        </p:nvSpPr>
        <p:spPr>
          <a:xfrm>
            <a:off x="792000" y="2088000"/>
            <a:ext cx="4968000" cy="3780000"/>
          </a:xfrm>
          <a:prstGeom prst="rect">
            <a:avLst/>
          </a:prstGeom>
        </p:spPr>
        <p:txBody>
          <a:bodyPr/>
          <a:lstStyle/>
          <a:p>
            <a:r>
              <a:rPr lang="en-US" sz="1800">
                <a:solidFill>
                  <a:srgbClr val="333333"/>
                </a:solidFill>
                <a:latin typeface="Hiragino Sans"/>
                <a:ea typeface="Hiragino Sans"/>
              </a:rPr>
              <a:t>合成7種: 木、2次元格子、疎ER、BA、密ER、Moon–Moser、完全グラフ</a:t>
            </a:r>
          </a:p>
          <a:p>
            <a:r>
              <a:rPr lang="en-US" sz="1800">
                <a:solidFill>
                  <a:srgbClr val="333333"/>
                </a:solidFill>
                <a:latin typeface="Hiragino Sans"/>
                <a:ea typeface="Hiragino Sans"/>
              </a:rPr>
              <a:t>実データ3種（SNAP）: ca-AstroPh、ca-HepPh、soc-sign-epinions</a:t>
            </a:r>
          </a:p>
          <a:p>
            <a:r>
              <a:rPr lang="en-US" sz="1800">
                <a:solidFill>
                  <a:srgbClr val="333333"/>
                </a:solidFill>
                <a:latin typeface="Hiragino Sans"/>
                <a:ea typeface="Hiragino Sans"/>
              </a:rPr>
              <a:t>縮退数 d は 1〜299 まで疎密の幅を取る</a:t>
            </a:r>
          </a:p>
        </p:txBody>
      </p:sp>
      <p:sp>
        <p:nvSpPr>
          <p:cNvPr id="100018" name="CardRight"/>
          <p:cNvSpPr/>
          <p:nvPr/>
        </p:nvSpPr>
        <p:spPr>
          <a:xfrm>
            <a:off x="6186600" y="1260000"/>
            <a:ext cx="5466600" cy="5040000"/>
          </a:xfrm>
          <a:prstGeom prst="roundRect">
            <a:avLst/>
          </a:prstGeom>
          <a:solidFill>
            <a:srgbClr val="F5F7FA"/>
          </a:solidFill>
          <a:ln>
            <a:noFill/>
          </a:ln>
        </p:spPr>
        <p:txBody>
          <a:bodyPr/>
          <a:lstStyle/>
          <a:p>
            <a:endParaRPr/>
          </a:p>
        </p:txBody>
      </p:sp>
      <p:sp>
        <p:nvSpPr>
          <p:cNvPr id="100019" name="TextBox 6"/>
          <p:cNvSpPr txBox="1"/>
          <p:nvPr/>
        </p:nvSpPr>
        <p:spPr>
          <a:xfrm>
            <a:off x="6438600" y="1512000"/>
            <a:ext cx="4968000" cy="504000"/>
          </a:xfrm>
          <a:prstGeom prst="rect">
            <a:avLst/>
          </a:prstGeom>
        </p:spPr>
        <p:txBody>
          <a:bodyPr/>
          <a:lstStyle/>
          <a:p>
            <a:r>
              <a:rPr lang="en-US" sz="2200" b="1">
                <a:solidFill>
                  <a:srgbClr val="1E2761"/>
                </a:solidFill>
                <a:latin typeface="Hiragino Sans"/>
                <a:ea typeface="Hiragino Sans"/>
              </a:rPr>
              <a:t>測定環境</a:t>
            </a:r>
          </a:p>
        </p:txBody>
      </p:sp>
      <p:sp>
        <p:nvSpPr>
          <p:cNvPr id="100020" name="TextBox 7"/>
          <p:cNvSpPr txBox="1"/>
          <p:nvPr/>
        </p:nvSpPr>
        <p:spPr>
          <a:xfrm>
            <a:off x="6438600" y="2088000"/>
            <a:ext cx="4968000" cy="3780000"/>
          </a:xfrm>
          <a:prstGeom prst="rect">
            <a:avLst/>
          </a:prstGeom>
        </p:spPr>
        <p:txBody>
          <a:bodyPr/>
          <a:lstStyle/>
          <a:p>
            <a:r>
              <a:rPr lang="en-US" sz="1800">
                <a:solidFill>
                  <a:srgbClr val="333333"/>
                </a:solidFill>
                <a:latin typeface="Hiragino Sans"/>
                <a:ea typeface="Hiragino Sans"/>
              </a:rPr>
              <a:t>Apple M4（Pコア4 + Eコア6）、16GB</a:t>
            </a:r>
          </a:p>
          <a:p>
            <a:r>
              <a:rPr lang="en-US" sz="1800">
                <a:solidFill>
                  <a:srgbClr val="333333"/>
                </a:solidFill>
                <a:latin typeface="Hiragino Sans"/>
                <a:ea typeface="Hiragino Sans"/>
              </a:rPr>
              <a:t>純 Python + multiprocessing</a:t>
            </a:r>
          </a:p>
          <a:p>
            <a:r>
              <a:rPr lang="en-US" sz="1800">
                <a:solidFill>
                  <a:srgbClr val="333333"/>
                </a:solidFill>
                <a:latin typeface="Hiragino Sans"/>
                <a:ea typeface="Hiragino Sans"/>
              </a:rPr>
              <a:t>各条件3回の最小値を採用</a:t>
            </a:r>
          </a:p>
          <a:p>
            <a:r>
              <a:rPr lang="en-US" sz="1800">
                <a:solidFill>
                  <a:srgbClr val="333333"/>
                </a:solidFill>
                <a:latin typeface="Hiragino Sans"/>
                <a:ea typeface="Hiragino Sans"/>
              </a:rPr>
              <a:t>測定前に環境を記録、比較条件は時間的に隣接</a:t>
            </a:r>
          </a:p>
        </p:txBody>
      </p:sp>
      <p:sp>
        <p:nvSpPr>
          <p:cNvPr id="100091" name="TextBox 8"/>
          <p:cNvSpPr/>
          <p:nvPr/>
        </p:nvSpPr>
        <p:spPr>
          <a:xfrm>
            <a:off x="11592000" y="6336000"/>
            <a:ext cx="360000" cy="360000"/>
          </a:xfrm>
          <a:prstGeom prst="ellipse">
            <a:avLst/>
          </a:prstGeom>
          <a:solidFill>
            <a:srgbClr val="1E2761"/>
          </a:solidFill>
          <a:ln>
            <a:noFill/>
          </a:ln>
        </p:spPr>
        <p:txBody>
          <a:bodyPr anchor="ctr"/>
          <a:lstStyle/>
          <a:p>
            <a:pPr algn="ctr"/>
            <a:r>
              <a:rPr lang="en-US" sz="1200">
                <a:solidFill>
                  <a:srgbClr val="FFFFFF"/>
                </a:solidFill>
                <a:latin typeface="Hiragino Sans"/>
                <a:ea typeface="Hiragino Sans"/>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021" name="TextBox 1"/>
          <p:cNvSpPr txBox="1"/>
          <p:nvPr/>
        </p:nvSpPr>
        <p:spPr>
          <a:xfrm>
            <a:off x="540000" y="360000"/>
            <a:ext cx="11113200" cy="648000"/>
          </a:xfrm>
          <a:prstGeom prst="rect">
            <a:avLst/>
          </a:prstGeom>
        </p:spPr>
        <p:txBody>
          <a:bodyPr/>
          <a:lstStyle/>
          <a:p>
            <a:r>
              <a:rPr lang="en-US" sz="3000" b="1">
                <a:solidFill>
                  <a:srgbClr val="1E2761"/>
                </a:solidFill>
                <a:latin typeface="Hiragino Sans"/>
                <a:ea typeface="Hiragino Sans"/>
              </a:rPr>
              <a:t>疎なグラフほど Eppstein が速い</a:t>
            </a:r>
          </a:p>
        </p:txBody>
      </p:sp>
      <p:graphicFrame>
        <p:nvGraphicFramePr>
          <p:cNvPr id="100022" name="Tomita 時間 ÷ Eppstein 時間（倍率）"/>
          <p:cNvGraphicFramePr/>
          <p:nvPr/>
        </p:nvGraphicFramePr>
        <p:xfrm>
          <a:off x="540000" y="1188000"/>
          <a:ext cx="7560000" cy="5220000"/>
        </p:xfrm>
        <a:graphic>
          <a:graphicData uri="http://schemas.openxmlformats.org/drawingml/2006/chart">
            <c:chart xmlns:c="http://schemas.openxmlformats.org/drawingml/2006/chart" xmlns:r="http://schemas.openxmlformats.org/officeDocument/2006/relationships" r:id="rId3"/>
          </a:graphicData>
        </a:graphic>
      </p:graphicFrame>
      <p:sp>
        <p:nvSpPr>
          <p:cNvPr id="100023" name="CardRight"/>
          <p:cNvSpPr/>
          <p:nvPr/>
        </p:nvSpPr>
        <p:spPr>
          <a:xfrm>
            <a:off x="8460000" y="1980000"/>
            <a:ext cx="3193200" cy="3240000"/>
          </a:xfrm>
          <a:prstGeom prst="roundRect">
            <a:avLst/>
          </a:prstGeom>
          <a:solidFill>
            <a:srgbClr val="F5F7FA"/>
          </a:solidFill>
          <a:ln>
            <a:noFill/>
          </a:ln>
        </p:spPr>
        <p:txBody>
          <a:bodyPr/>
          <a:lstStyle/>
          <a:p>
            <a:endParaRPr/>
          </a:p>
        </p:txBody>
      </p:sp>
      <p:sp>
        <p:nvSpPr>
          <p:cNvPr id="100024" name="TextBox 3"/>
          <p:cNvSpPr txBox="1"/>
          <p:nvPr/>
        </p:nvSpPr>
        <p:spPr>
          <a:xfrm>
            <a:off x="8712000" y="2232000"/>
            <a:ext cx="2700000" cy="2736000"/>
          </a:xfrm>
          <a:prstGeom prst="rect">
            <a:avLst/>
          </a:prstGeom>
        </p:spPr>
        <p:txBody>
          <a:bodyPr/>
          <a:lstStyle/>
          <a:p>
            <a:r>
              <a:rPr lang="en-US" sz="1800">
                <a:solidFill>
                  <a:srgbClr val="333333"/>
                </a:solidFill>
                <a:latin typeface="Hiragino Sans"/>
                <a:ea typeface="Hiragino Sans"/>
              </a:rPr>
              <a:t>倍率が1を超えれば Eppstein が速い。結果は d/n（縮退数の相対的な小ささ）でほぼ説明できる</a:t>
            </a:r>
          </a:p>
        </p:txBody>
      </p:sp>
      <p:sp>
        <p:nvSpPr>
          <p:cNvPr id="100092" name="TextBox 4"/>
          <p:cNvSpPr/>
          <p:nvPr/>
        </p:nvSpPr>
        <p:spPr>
          <a:xfrm>
            <a:off x="11592000" y="6336000"/>
            <a:ext cx="360000" cy="360000"/>
          </a:xfrm>
          <a:prstGeom prst="ellipse">
            <a:avLst/>
          </a:prstGeom>
          <a:solidFill>
            <a:srgbClr val="1E2761"/>
          </a:solidFill>
          <a:ln>
            <a:noFill/>
          </a:ln>
        </p:spPr>
        <p:txBody>
          <a:bodyPr anchor="ctr"/>
          <a:lstStyle/>
          <a:p>
            <a:pPr algn="ctr"/>
            <a:r>
              <a:rPr lang="en-US" sz="1200">
                <a:solidFill>
                  <a:srgbClr val="FFFFFF"/>
                </a:solidFill>
                <a:latin typeface="Hiragino Sans"/>
                <a:ea typeface="Hiragino Sans"/>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025" name="TextBox 1"/>
          <p:cNvSpPr txBox="1"/>
          <p:nvPr/>
        </p:nvSpPr>
        <p:spPr>
          <a:xfrm>
            <a:off x="540000" y="360000"/>
            <a:ext cx="11113200" cy="648000"/>
          </a:xfrm>
          <a:prstGeom prst="rect">
            <a:avLst/>
          </a:prstGeom>
        </p:spPr>
        <p:txBody>
          <a:bodyPr/>
          <a:lstStyle/>
          <a:p>
            <a:r>
              <a:rPr lang="en-US" sz="3000" b="1">
                <a:solidFill>
                  <a:srgbClr val="1E2761"/>
                </a:solidFill>
                <a:latin typeface="Hiragino Sans"/>
                <a:ea typeface="Hiragino Sans"/>
              </a:rPr>
              <a:t>素朴な並列化は頭打ちになった</a:t>
            </a:r>
          </a:p>
        </p:txBody>
      </p:sp>
      <p:graphicFrame>
        <p:nvGraphicFramePr>
          <p:cNvPr id="100026" name="soc の列挙時間（秒）"/>
          <p:cNvGraphicFramePr/>
          <p:nvPr/>
        </p:nvGraphicFramePr>
        <p:xfrm>
          <a:off x="540000" y="1188000"/>
          <a:ext cx="7560000" cy="5220000"/>
        </p:xfrm>
        <a:graphic>
          <a:graphicData uri="http://schemas.openxmlformats.org/drawingml/2006/chart">
            <c:chart xmlns:c="http://schemas.openxmlformats.org/drawingml/2006/chart" xmlns:r="http://schemas.openxmlformats.org/officeDocument/2006/relationships" r:id="rId3"/>
          </a:graphicData>
        </a:graphic>
      </p:graphicFrame>
      <p:sp>
        <p:nvSpPr>
          <p:cNvPr id="100027" name="CardRight"/>
          <p:cNvSpPr/>
          <p:nvPr/>
        </p:nvSpPr>
        <p:spPr>
          <a:xfrm>
            <a:off x="8460000" y="1980000"/>
            <a:ext cx="3193200" cy="3240000"/>
          </a:xfrm>
          <a:prstGeom prst="roundRect">
            <a:avLst/>
          </a:prstGeom>
          <a:solidFill>
            <a:srgbClr val="F5F7FA"/>
          </a:solidFill>
          <a:ln>
            <a:noFill/>
          </a:ln>
        </p:spPr>
        <p:txBody>
          <a:bodyPr/>
          <a:lstStyle/>
          <a:p>
            <a:endParaRPr/>
          </a:p>
        </p:txBody>
      </p:sp>
      <p:sp>
        <p:nvSpPr>
          <p:cNvPr id="100028" name="TextBox 3"/>
          <p:cNvSpPr txBox="1"/>
          <p:nvPr/>
        </p:nvSpPr>
        <p:spPr>
          <a:xfrm>
            <a:off x="8712000" y="2232000"/>
            <a:ext cx="2700000" cy="2736000"/>
          </a:xfrm>
          <a:prstGeom prst="rect">
            <a:avLst/>
          </a:prstGeom>
        </p:spPr>
        <p:txBody>
          <a:bodyPr/>
          <a:lstStyle/>
          <a:p>
            <a:r>
              <a:rPr lang="en-US" sz="1800">
                <a:solidFill>
                  <a:srgbClr val="333333"/>
                </a:solidFill>
                <a:latin typeface="Hiragino Sans"/>
                <a:ea typeface="Hiragino Sans"/>
              </a:rPr>
              <a:t>バッチ512は4worker以降伸びない。測ると上位1%の頂点が仕事の94.7%を占めていた。バッチを64に細かくするだけで70秒 → 27.7秒</a:t>
            </a:r>
          </a:p>
        </p:txBody>
      </p:sp>
      <p:sp>
        <p:nvSpPr>
          <p:cNvPr id="100093" name="TextBox 4"/>
          <p:cNvSpPr/>
          <p:nvPr/>
        </p:nvSpPr>
        <p:spPr>
          <a:xfrm>
            <a:off x="11592000" y="6336000"/>
            <a:ext cx="360000" cy="360000"/>
          </a:xfrm>
          <a:prstGeom prst="ellipse">
            <a:avLst/>
          </a:prstGeom>
          <a:solidFill>
            <a:srgbClr val="1E2761"/>
          </a:solidFill>
          <a:ln>
            <a:noFill/>
          </a:ln>
        </p:spPr>
        <p:txBody>
          <a:bodyPr anchor="ctr"/>
          <a:lstStyle/>
          <a:p>
            <a:pPr algn="ctr"/>
            <a:r>
              <a:rPr lang="en-US" sz="1200">
                <a:solidFill>
                  <a:srgbClr val="FFFFFF"/>
                </a:solidFill>
                <a:latin typeface="Hiragino Sans"/>
                <a:ea typeface="Hiragino Sans"/>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029" name="TextBox 1"/>
          <p:cNvSpPr txBox="1"/>
          <p:nvPr/>
        </p:nvSpPr>
        <p:spPr>
          <a:xfrm>
            <a:off x="540000" y="360000"/>
            <a:ext cx="11113200" cy="648000"/>
          </a:xfrm>
          <a:prstGeom prst="rect">
            <a:avLst/>
          </a:prstGeom>
        </p:spPr>
        <p:txBody>
          <a:bodyPr/>
          <a:lstStyle/>
          <a:p>
            <a:r>
              <a:rPr lang="en-US" sz="3000" b="1">
                <a:solidFill>
                  <a:srgbClr val="1E2761"/>
                </a:solidFill>
                <a:latin typeface="Hiragino Sans"/>
                <a:ea typeface="Hiragino Sans"/>
              </a:rPr>
              <a:t>時間は startup と compute 内の idle に消える</a:t>
            </a:r>
          </a:p>
        </p:txBody>
      </p:sp>
      <p:sp>
        <p:nvSpPr>
          <p:cNvPr id="100030" name="TextBox 2"/>
          <p:cNvSpPr/>
          <p:nvPr/>
        </p:nvSpPr>
        <p:spPr>
          <a:xfrm>
            <a:off x="540000" y="1800000"/>
            <a:ext cx="3520800" cy="3240000"/>
          </a:xfrm>
          <a:prstGeom prst="roundRect">
            <a:avLst/>
          </a:prstGeom>
          <a:solidFill>
            <a:srgbClr val="F5F7FA"/>
          </a:solidFill>
          <a:ln>
            <a:noFill/>
          </a:ln>
        </p:spPr>
        <p:txBody>
          <a:bodyPr/>
          <a:lstStyle/>
          <a:p>
            <a:endParaRPr/>
          </a:p>
        </p:txBody>
      </p:sp>
      <p:sp>
        <p:nvSpPr>
          <p:cNvPr id="100031" name="TextBox 3"/>
          <p:cNvSpPr txBox="1"/>
          <p:nvPr/>
        </p:nvSpPr>
        <p:spPr>
          <a:xfrm>
            <a:off x="540000" y="2232000"/>
            <a:ext cx="3520800" cy="1008000"/>
          </a:xfrm>
          <a:prstGeom prst="rect">
            <a:avLst/>
          </a:prstGeom>
        </p:spPr>
        <p:txBody>
          <a:bodyPr/>
          <a:lstStyle/>
          <a:p>
            <a:pPr algn="ctr"/>
            <a:r>
              <a:rPr lang="en-US" sz="5400" b="1">
                <a:solidFill>
                  <a:srgbClr val="1E2761"/>
                </a:solidFill>
                <a:latin typeface="Hiragino Sans"/>
                <a:ea typeface="Hiragino Sans"/>
              </a:rPr>
              <a:t>1%未満</a:t>
            </a:r>
          </a:p>
        </p:txBody>
      </p:sp>
      <p:sp>
        <p:nvSpPr>
          <p:cNvPr id="100032" name="TextBox 4"/>
          <p:cNvSpPr txBox="1"/>
          <p:nvPr/>
        </p:nvSpPr>
        <p:spPr>
          <a:xfrm>
            <a:off x="792000" y="3420000"/>
            <a:ext cx="3016800" cy="1368000"/>
          </a:xfrm>
          <a:prstGeom prst="rect">
            <a:avLst/>
          </a:prstGeom>
        </p:spPr>
        <p:txBody>
          <a:bodyPr/>
          <a:lstStyle/>
          <a:p>
            <a:pPr algn="ctr"/>
            <a:r>
              <a:rPr lang="en-US" sz="1400">
                <a:solidFill>
                  <a:srgbClr val="8899BB"/>
                </a:solidFill>
                <a:latin typeface="Hiragino Sans"/>
                <a:ea typeface="Hiragino Sans"/>
              </a:rPr>
              <a:t>ordering（逐次準備）の割合。Amdahl の逐次項は無視できる</a:t>
            </a:r>
          </a:p>
        </p:txBody>
      </p:sp>
      <p:sp>
        <p:nvSpPr>
          <p:cNvPr id="100033" name="TextBox 5"/>
          <p:cNvSpPr/>
          <p:nvPr/>
        </p:nvSpPr>
        <p:spPr>
          <a:xfrm>
            <a:off x="4334400" y="1800000"/>
            <a:ext cx="3520800" cy="3240000"/>
          </a:xfrm>
          <a:prstGeom prst="roundRect">
            <a:avLst/>
          </a:prstGeom>
          <a:solidFill>
            <a:srgbClr val="F5F7FA"/>
          </a:solidFill>
          <a:ln>
            <a:noFill/>
          </a:ln>
        </p:spPr>
        <p:txBody>
          <a:bodyPr/>
          <a:lstStyle/>
          <a:p>
            <a:endParaRPr/>
          </a:p>
        </p:txBody>
      </p:sp>
      <p:sp>
        <p:nvSpPr>
          <p:cNvPr id="100034" name="TextBox 6"/>
          <p:cNvSpPr txBox="1"/>
          <p:nvPr/>
        </p:nvSpPr>
        <p:spPr>
          <a:xfrm>
            <a:off x="4334400" y="2232000"/>
            <a:ext cx="3520800" cy="1008000"/>
          </a:xfrm>
          <a:prstGeom prst="rect">
            <a:avLst/>
          </a:prstGeom>
        </p:spPr>
        <p:txBody>
          <a:bodyPr/>
          <a:lstStyle/>
          <a:p>
            <a:pPr algn="ctr"/>
            <a:r>
              <a:rPr lang="en-US" sz="3600" b="1">
                <a:solidFill>
                  <a:srgbClr val="1E2761"/>
                </a:solidFill>
                <a:latin typeface="Hiragino Sans"/>
                <a:ea typeface="Hiragino Sans"/>
              </a:rPr>
              <a:t>0.27→1.27秒</a:t>
            </a:r>
          </a:p>
        </p:txBody>
      </p:sp>
      <p:sp>
        <p:nvSpPr>
          <p:cNvPr id="100035" name="TextBox 7"/>
          <p:cNvSpPr txBox="1"/>
          <p:nvPr/>
        </p:nvSpPr>
        <p:spPr>
          <a:xfrm>
            <a:off x="4586400" y="3420000"/>
            <a:ext cx="3016800" cy="1368000"/>
          </a:xfrm>
          <a:prstGeom prst="rect">
            <a:avLst/>
          </a:prstGeom>
        </p:spPr>
        <p:txBody>
          <a:bodyPr/>
          <a:lstStyle/>
          <a:p>
            <a:pPr algn="ctr"/>
            <a:r>
              <a:rPr lang="en-US" sz="1400">
                <a:solidFill>
                  <a:srgbClr val="8899BB"/>
                </a:solidFill>
                <a:latin typeface="Hiragino Sans"/>
                <a:ea typeface="Hiragino Sans"/>
              </a:rPr>
              <a:t>startup は worker 数にほぼ比例（soc、w=1→8）</a:t>
            </a:r>
          </a:p>
        </p:txBody>
      </p:sp>
      <p:sp>
        <p:nvSpPr>
          <p:cNvPr id="100036" name="TextBox 8"/>
          <p:cNvSpPr/>
          <p:nvPr/>
        </p:nvSpPr>
        <p:spPr>
          <a:xfrm>
            <a:off x="8128800" y="1800000"/>
            <a:ext cx="3520800" cy="3240000"/>
          </a:xfrm>
          <a:prstGeom prst="roundRect">
            <a:avLst/>
          </a:prstGeom>
          <a:solidFill>
            <a:srgbClr val="F5F7FA"/>
          </a:solidFill>
          <a:ln>
            <a:noFill/>
          </a:ln>
        </p:spPr>
        <p:txBody>
          <a:bodyPr/>
          <a:lstStyle/>
          <a:p>
            <a:endParaRPr/>
          </a:p>
        </p:txBody>
      </p:sp>
      <p:sp>
        <p:nvSpPr>
          <p:cNvPr id="100037" name="TextBox 9"/>
          <p:cNvSpPr txBox="1"/>
          <p:nvPr/>
        </p:nvSpPr>
        <p:spPr>
          <a:xfrm>
            <a:off x="8128800" y="2232000"/>
            <a:ext cx="3520800" cy="1008000"/>
          </a:xfrm>
          <a:prstGeom prst="rect">
            <a:avLst/>
          </a:prstGeom>
        </p:spPr>
        <p:txBody>
          <a:bodyPr/>
          <a:lstStyle/>
          <a:p>
            <a:pPr algn="ctr"/>
            <a:r>
              <a:rPr lang="en-US" sz="5400" b="1">
                <a:solidFill>
                  <a:srgbClr val="1E2761"/>
                </a:solidFill>
                <a:latin typeface="Hiragino Sans"/>
                <a:ea typeface="Hiragino Sans"/>
              </a:rPr>
              <a:t>6 / 9</a:t>
            </a:r>
          </a:p>
        </p:txBody>
      </p:sp>
      <p:sp>
        <p:nvSpPr>
          <p:cNvPr id="100038" name="TextBox 10"/>
          <p:cNvSpPr txBox="1"/>
          <p:nvPr/>
        </p:nvSpPr>
        <p:spPr>
          <a:xfrm>
            <a:off x="8380800" y="3420000"/>
            <a:ext cx="3016800" cy="1368000"/>
          </a:xfrm>
          <a:prstGeom prst="rect">
            <a:avLst/>
          </a:prstGeom>
        </p:spPr>
        <p:txBody>
          <a:bodyPr/>
          <a:lstStyle/>
          <a:p>
            <a:pPr algn="ctr"/>
            <a:r>
              <a:rPr lang="en-US" sz="1400">
                <a:solidFill>
                  <a:srgbClr val="8899BB"/>
                </a:solidFill>
                <a:latin typeface="Hiragino Sans"/>
                <a:ea typeface="Hiragino Sans"/>
              </a:rPr>
              <a:t>並列化が損になるグラフ数。計算1秒未満では固定費負け</a:t>
            </a:r>
          </a:p>
        </p:txBody>
      </p:sp>
      <p:sp>
        <p:nvSpPr>
          <p:cNvPr id="100094" name="TextBox 11"/>
          <p:cNvSpPr/>
          <p:nvPr/>
        </p:nvSpPr>
        <p:spPr>
          <a:xfrm>
            <a:off x="11592000" y="6336000"/>
            <a:ext cx="360000" cy="360000"/>
          </a:xfrm>
          <a:prstGeom prst="ellipse">
            <a:avLst/>
          </a:prstGeom>
          <a:solidFill>
            <a:srgbClr val="1E2761"/>
          </a:solidFill>
          <a:ln>
            <a:noFill/>
          </a:ln>
        </p:spPr>
        <p:txBody>
          <a:bodyPr anchor="ctr"/>
          <a:lstStyle/>
          <a:p>
            <a:pPr algn="ctr"/>
            <a:r>
              <a:rPr lang="en-US" sz="1200">
                <a:solidFill>
                  <a:srgbClr val="FFFFFF"/>
                </a:solidFill>
                <a:latin typeface="Hiragino Sans"/>
                <a:ea typeface="Hiragino Sans"/>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039" name="TextBox 1"/>
          <p:cNvSpPr txBox="1"/>
          <p:nvPr/>
        </p:nvSpPr>
        <p:spPr>
          <a:xfrm>
            <a:off x="540000" y="360000"/>
            <a:ext cx="11113200" cy="648000"/>
          </a:xfrm>
          <a:prstGeom prst="rect">
            <a:avLst/>
          </a:prstGeom>
        </p:spPr>
        <p:txBody>
          <a:bodyPr/>
          <a:lstStyle/>
          <a:p>
            <a:r>
              <a:rPr lang="en-US" sz="3000" b="1">
                <a:solidFill>
                  <a:srgbClr val="1E2761"/>
                </a:solidFill>
                <a:latin typeface="Hiragino Sans"/>
                <a:ea typeface="Hiragino Sans"/>
              </a:rPr>
              <a:t>idle をゼロにしても速くならなかった</a:t>
            </a:r>
          </a:p>
        </p:txBody>
      </p:sp>
      <p:sp>
        <p:nvSpPr>
          <p:cNvPr id="100040" name="TextBox 2"/>
          <p:cNvSpPr/>
          <p:nvPr/>
        </p:nvSpPr>
        <p:spPr>
          <a:xfrm>
            <a:off x="540000" y="1368000"/>
            <a:ext cx="3520800" cy="3240000"/>
          </a:xfrm>
          <a:prstGeom prst="roundRect">
            <a:avLst/>
          </a:prstGeom>
          <a:solidFill>
            <a:srgbClr val="F5F7FA"/>
          </a:solidFill>
          <a:ln>
            <a:noFill/>
          </a:ln>
        </p:spPr>
        <p:txBody>
          <a:bodyPr/>
          <a:lstStyle/>
          <a:p>
            <a:endParaRPr/>
          </a:p>
        </p:txBody>
      </p:sp>
      <p:sp>
        <p:nvSpPr>
          <p:cNvPr id="100041" name="TextBox 3"/>
          <p:cNvSpPr txBox="1"/>
          <p:nvPr/>
        </p:nvSpPr>
        <p:spPr>
          <a:xfrm>
            <a:off x="540000" y="1800000"/>
            <a:ext cx="3520800" cy="1008000"/>
          </a:xfrm>
          <a:prstGeom prst="rect">
            <a:avLst/>
          </a:prstGeom>
        </p:spPr>
        <p:txBody>
          <a:bodyPr/>
          <a:lstStyle/>
          <a:p>
            <a:pPr algn="ctr"/>
            <a:r>
              <a:rPr lang="en-US" sz="2800" b="1">
                <a:solidFill>
                  <a:srgbClr val="1E2761"/>
                </a:solidFill>
                <a:latin typeface="Hiragino Sans"/>
                <a:ea typeface="Hiragino Sans"/>
              </a:rPr>
              <a:t>32.6% → 0.1%</a:t>
            </a:r>
          </a:p>
        </p:txBody>
      </p:sp>
      <p:sp>
        <p:nvSpPr>
          <p:cNvPr id="100042" name="TextBox 4"/>
          <p:cNvSpPr txBox="1"/>
          <p:nvPr/>
        </p:nvSpPr>
        <p:spPr>
          <a:xfrm>
            <a:off x="792000" y="2988000"/>
            <a:ext cx="3016800" cy="1368000"/>
          </a:xfrm>
          <a:prstGeom prst="rect">
            <a:avLst/>
          </a:prstGeom>
        </p:spPr>
        <p:txBody>
          <a:bodyPr/>
          <a:lstStyle/>
          <a:p>
            <a:pPr algn="ctr"/>
            <a:r>
              <a:rPr lang="en-US" sz="1400">
                <a:solidFill>
                  <a:srgbClr val="8899BB"/>
                </a:solidFill>
                <a:latin typeface="Hiragino Sans"/>
                <a:ea typeface="Hiragino Sans"/>
              </a:rPr>
              <a:t>idle（block → interleave、w=8）</a:t>
            </a:r>
          </a:p>
        </p:txBody>
      </p:sp>
      <p:sp>
        <p:nvSpPr>
          <p:cNvPr id="100043" name="TextBox 5"/>
          <p:cNvSpPr/>
          <p:nvPr/>
        </p:nvSpPr>
        <p:spPr>
          <a:xfrm>
            <a:off x="4334400" y="1368000"/>
            <a:ext cx="3520800" cy="3240000"/>
          </a:xfrm>
          <a:prstGeom prst="roundRect">
            <a:avLst/>
          </a:prstGeom>
          <a:solidFill>
            <a:srgbClr val="F5F7FA"/>
          </a:solidFill>
          <a:ln>
            <a:noFill/>
          </a:ln>
        </p:spPr>
        <p:txBody>
          <a:bodyPr/>
          <a:lstStyle/>
          <a:p>
            <a:endParaRPr/>
          </a:p>
        </p:txBody>
      </p:sp>
      <p:sp>
        <p:nvSpPr>
          <p:cNvPr id="100044" name="TextBox 6"/>
          <p:cNvSpPr txBox="1"/>
          <p:nvPr/>
        </p:nvSpPr>
        <p:spPr>
          <a:xfrm>
            <a:off x="4334400" y="1800000"/>
            <a:ext cx="3520800" cy="1008000"/>
          </a:xfrm>
          <a:prstGeom prst="rect">
            <a:avLst/>
          </a:prstGeom>
        </p:spPr>
        <p:txBody>
          <a:bodyPr/>
          <a:lstStyle/>
          <a:p>
            <a:pPr algn="ctr"/>
            <a:r>
              <a:rPr lang="en-US" sz="4800" b="1" dirty="0">
                <a:solidFill>
                  <a:srgbClr val="1E2761"/>
                </a:solidFill>
                <a:latin typeface="Hiragino Sans"/>
                <a:ea typeface="Hiragino Sans"/>
              </a:rPr>
              <a:t>- 4.3%</a:t>
            </a:r>
          </a:p>
        </p:txBody>
      </p:sp>
      <p:sp>
        <p:nvSpPr>
          <p:cNvPr id="100045" name="TextBox 7"/>
          <p:cNvSpPr txBox="1"/>
          <p:nvPr/>
        </p:nvSpPr>
        <p:spPr>
          <a:xfrm>
            <a:off x="4586400" y="2988000"/>
            <a:ext cx="3016800" cy="1368000"/>
          </a:xfrm>
          <a:prstGeom prst="rect">
            <a:avLst/>
          </a:prstGeom>
        </p:spPr>
        <p:txBody>
          <a:bodyPr/>
          <a:lstStyle/>
          <a:p>
            <a:pPr algn="ctr"/>
            <a:r>
              <a:rPr lang="en-US" sz="1400">
                <a:solidFill>
                  <a:srgbClr val="8899BB"/>
                </a:solidFill>
                <a:latin typeface="Hiragino Sans"/>
                <a:ea typeface="Hiragino Sans"/>
              </a:rPr>
              <a:t>compute の短縮はこれだけ</a:t>
            </a:r>
          </a:p>
        </p:txBody>
      </p:sp>
      <p:sp>
        <p:nvSpPr>
          <p:cNvPr id="100046" name="TextBox 8"/>
          <p:cNvSpPr/>
          <p:nvPr/>
        </p:nvSpPr>
        <p:spPr>
          <a:xfrm>
            <a:off x="8128800" y="1368000"/>
            <a:ext cx="3520800" cy="3240000"/>
          </a:xfrm>
          <a:prstGeom prst="roundRect">
            <a:avLst/>
          </a:prstGeom>
          <a:solidFill>
            <a:srgbClr val="F5F7FA"/>
          </a:solidFill>
          <a:ln>
            <a:noFill/>
          </a:ln>
        </p:spPr>
        <p:txBody>
          <a:bodyPr/>
          <a:lstStyle/>
          <a:p>
            <a:endParaRPr/>
          </a:p>
        </p:txBody>
      </p:sp>
      <p:sp>
        <p:nvSpPr>
          <p:cNvPr id="100047" name="TextBox 9"/>
          <p:cNvSpPr txBox="1"/>
          <p:nvPr/>
        </p:nvSpPr>
        <p:spPr>
          <a:xfrm>
            <a:off x="8128800" y="1800000"/>
            <a:ext cx="3520800" cy="1008000"/>
          </a:xfrm>
          <a:prstGeom prst="rect">
            <a:avLst/>
          </a:prstGeom>
        </p:spPr>
        <p:txBody>
          <a:bodyPr/>
          <a:lstStyle/>
          <a:p>
            <a:pPr algn="ctr"/>
            <a:r>
              <a:rPr lang="en-US" sz="3600" b="1">
                <a:solidFill>
                  <a:srgbClr val="1E2761"/>
                </a:solidFill>
                <a:latin typeface="Hiragino Sans"/>
                <a:ea typeface="Hiragino Sans"/>
              </a:rPr>
              <a:t>139 → 198秒</a:t>
            </a:r>
          </a:p>
        </p:txBody>
      </p:sp>
      <p:sp>
        <p:nvSpPr>
          <p:cNvPr id="100048" name="TextBox 10"/>
          <p:cNvSpPr txBox="1"/>
          <p:nvPr/>
        </p:nvSpPr>
        <p:spPr>
          <a:xfrm>
            <a:off x="8380800" y="2988000"/>
            <a:ext cx="3016800" cy="1368000"/>
          </a:xfrm>
          <a:prstGeom prst="rect">
            <a:avLst/>
          </a:prstGeom>
        </p:spPr>
        <p:txBody>
          <a:bodyPr/>
          <a:lstStyle/>
          <a:p>
            <a:pPr algn="ctr"/>
            <a:r>
              <a:rPr lang="en-US" sz="1400">
                <a:solidFill>
                  <a:srgbClr val="8899BB"/>
                </a:solidFill>
                <a:latin typeface="Hiragino Sans"/>
                <a:ea typeface="Hiragino Sans"/>
              </a:rPr>
              <a:t>worker の busy 合計はむしろ膨張</a:t>
            </a:r>
          </a:p>
        </p:txBody>
      </p:sp>
      <p:sp>
        <p:nvSpPr>
          <p:cNvPr id="100049" name="TextBox 11"/>
          <p:cNvSpPr txBox="1"/>
          <p:nvPr/>
        </p:nvSpPr>
        <p:spPr>
          <a:xfrm>
            <a:off x="540000" y="5040000"/>
            <a:ext cx="11113200" cy="540000"/>
          </a:xfrm>
          <a:prstGeom prst="rect">
            <a:avLst/>
          </a:prstGeom>
        </p:spPr>
        <p:txBody>
          <a:bodyPr/>
          <a:lstStyle/>
          <a:p>
            <a:pPr algn="ctr"/>
            <a:r>
              <a:rPr lang="en-US" sz="1800">
                <a:solidFill>
                  <a:srgbClr val="333333"/>
                </a:solidFill>
                <a:latin typeface="Hiragino Sans"/>
                <a:ea typeface="Hiragino Sans"/>
              </a:rPr>
              <a:t>稼働時間が仕事量の物差しになっていない。ハードウェアを疑う</a:t>
            </a:r>
          </a:p>
        </p:txBody>
      </p:sp>
      <p:sp>
        <p:nvSpPr>
          <p:cNvPr id="100095" name="TextBox 12"/>
          <p:cNvSpPr/>
          <p:nvPr/>
        </p:nvSpPr>
        <p:spPr>
          <a:xfrm>
            <a:off x="11592000" y="6336000"/>
            <a:ext cx="360000" cy="360000"/>
          </a:xfrm>
          <a:prstGeom prst="ellipse">
            <a:avLst/>
          </a:prstGeom>
          <a:solidFill>
            <a:srgbClr val="1E2761"/>
          </a:solidFill>
          <a:ln>
            <a:noFill/>
          </a:ln>
        </p:spPr>
        <p:txBody>
          <a:bodyPr anchor="ctr"/>
          <a:lstStyle/>
          <a:p>
            <a:pPr algn="ctr"/>
            <a:r>
              <a:rPr lang="en-US" sz="1200">
                <a:solidFill>
                  <a:srgbClr val="FFFFFF"/>
                </a:solidFill>
                <a:latin typeface="Hiragino Sans"/>
                <a:ea typeface="Hiragino Sans"/>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050" name="TextBox 1"/>
          <p:cNvSpPr txBox="1"/>
          <p:nvPr/>
        </p:nvSpPr>
        <p:spPr>
          <a:xfrm>
            <a:off x="540000" y="360000"/>
            <a:ext cx="11113200" cy="648000"/>
          </a:xfrm>
          <a:prstGeom prst="rect">
            <a:avLst/>
          </a:prstGeom>
        </p:spPr>
        <p:txBody>
          <a:bodyPr/>
          <a:lstStyle/>
          <a:p>
            <a:r>
              <a:rPr lang="en-US" sz="3000" b="1">
                <a:solidFill>
                  <a:srgbClr val="1E2761"/>
                </a:solidFill>
                <a:latin typeface="Hiragino Sans"/>
                <a:ea typeface="Hiragino Sans"/>
              </a:rPr>
              <a:t>原因は P/E 非対称コアだった</a:t>
            </a:r>
          </a:p>
        </p:txBody>
      </p:sp>
      <p:sp>
        <p:nvSpPr>
          <p:cNvPr id="100051" name="TextBox 2"/>
          <p:cNvSpPr/>
          <p:nvPr/>
        </p:nvSpPr>
        <p:spPr>
          <a:xfrm>
            <a:off x="1326600" y="1980000"/>
            <a:ext cx="792000" cy="792000"/>
          </a:xfrm>
          <a:prstGeom prst="rect">
            <a:avLst/>
          </a:prstGeom>
          <a:solidFill>
            <a:srgbClr val="1E2761"/>
          </a:solidFill>
          <a:ln>
            <a:noFill/>
          </a:ln>
        </p:spPr>
        <p:txBody>
          <a:bodyPr anchor="ctr"/>
          <a:lstStyle/>
          <a:p>
            <a:pPr algn="ctr"/>
            <a:r>
              <a:rPr lang="en-US" sz="2000" b="1">
                <a:solidFill>
                  <a:srgbClr val="FFFFFF"/>
                </a:solidFill>
                <a:latin typeface="Hiragino Sans"/>
                <a:ea typeface="Hiragino Sans"/>
              </a:rPr>
              <a:t>P</a:t>
            </a:r>
          </a:p>
        </p:txBody>
      </p:sp>
      <p:sp>
        <p:nvSpPr>
          <p:cNvPr id="100052" name="TextBox 3"/>
          <p:cNvSpPr/>
          <p:nvPr/>
        </p:nvSpPr>
        <p:spPr>
          <a:xfrm>
            <a:off x="2298600" y="1980000"/>
            <a:ext cx="792000" cy="792000"/>
          </a:xfrm>
          <a:prstGeom prst="rect">
            <a:avLst/>
          </a:prstGeom>
          <a:solidFill>
            <a:srgbClr val="1E2761"/>
          </a:solidFill>
          <a:ln>
            <a:noFill/>
          </a:ln>
        </p:spPr>
        <p:txBody>
          <a:bodyPr anchor="ctr"/>
          <a:lstStyle/>
          <a:p>
            <a:pPr algn="ctr"/>
            <a:r>
              <a:rPr lang="en-US" sz="2000" b="1">
                <a:solidFill>
                  <a:srgbClr val="FFFFFF"/>
                </a:solidFill>
                <a:latin typeface="Hiragino Sans"/>
                <a:ea typeface="Hiragino Sans"/>
              </a:rPr>
              <a:t>P</a:t>
            </a:r>
          </a:p>
        </p:txBody>
      </p:sp>
      <p:sp>
        <p:nvSpPr>
          <p:cNvPr id="100053" name="TextBox 4"/>
          <p:cNvSpPr/>
          <p:nvPr/>
        </p:nvSpPr>
        <p:spPr>
          <a:xfrm>
            <a:off x="3270600" y="1980000"/>
            <a:ext cx="792000" cy="792000"/>
          </a:xfrm>
          <a:prstGeom prst="rect">
            <a:avLst/>
          </a:prstGeom>
          <a:solidFill>
            <a:srgbClr val="1E2761"/>
          </a:solidFill>
          <a:ln>
            <a:noFill/>
          </a:ln>
        </p:spPr>
        <p:txBody>
          <a:bodyPr anchor="ctr"/>
          <a:lstStyle/>
          <a:p>
            <a:pPr algn="ctr"/>
            <a:r>
              <a:rPr lang="en-US" sz="2000" b="1">
                <a:solidFill>
                  <a:srgbClr val="FFFFFF"/>
                </a:solidFill>
                <a:latin typeface="Hiragino Sans"/>
                <a:ea typeface="Hiragino Sans"/>
              </a:rPr>
              <a:t>P</a:t>
            </a:r>
          </a:p>
        </p:txBody>
      </p:sp>
      <p:sp>
        <p:nvSpPr>
          <p:cNvPr id="100054" name="TextBox 5"/>
          <p:cNvSpPr/>
          <p:nvPr/>
        </p:nvSpPr>
        <p:spPr>
          <a:xfrm>
            <a:off x="4242600" y="1980000"/>
            <a:ext cx="792000" cy="792000"/>
          </a:xfrm>
          <a:prstGeom prst="rect">
            <a:avLst/>
          </a:prstGeom>
          <a:solidFill>
            <a:srgbClr val="1E2761"/>
          </a:solidFill>
          <a:ln>
            <a:noFill/>
          </a:ln>
        </p:spPr>
        <p:txBody>
          <a:bodyPr anchor="ctr"/>
          <a:lstStyle/>
          <a:p>
            <a:pPr algn="ctr"/>
            <a:r>
              <a:rPr lang="en-US" sz="2000" b="1">
                <a:solidFill>
                  <a:srgbClr val="FFFFFF"/>
                </a:solidFill>
                <a:latin typeface="Hiragino Sans"/>
                <a:ea typeface="Hiragino Sans"/>
              </a:rPr>
              <a:t>P</a:t>
            </a:r>
          </a:p>
        </p:txBody>
      </p:sp>
      <p:sp>
        <p:nvSpPr>
          <p:cNvPr id="100055" name="TextBox 6"/>
          <p:cNvSpPr/>
          <p:nvPr/>
        </p:nvSpPr>
        <p:spPr>
          <a:xfrm>
            <a:off x="5214600" y="1980000"/>
            <a:ext cx="792000" cy="792000"/>
          </a:xfrm>
          <a:prstGeom prst="rect">
            <a:avLst/>
          </a:prstGeom>
          <a:solidFill>
            <a:srgbClr val="CADCFC"/>
          </a:solidFill>
          <a:ln>
            <a:noFill/>
          </a:ln>
        </p:spPr>
        <p:txBody>
          <a:bodyPr anchor="ctr"/>
          <a:lstStyle/>
          <a:p>
            <a:pPr algn="ctr"/>
            <a:r>
              <a:rPr lang="en-US" sz="2000" b="1">
                <a:solidFill>
                  <a:srgbClr val="1E2761"/>
                </a:solidFill>
                <a:latin typeface="Hiragino Sans"/>
                <a:ea typeface="Hiragino Sans"/>
              </a:rPr>
              <a:t>E</a:t>
            </a:r>
          </a:p>
        </p:txBody>
      </p:sp>
      <p:sp>
        <p:nvSpPr>
          <p:cNvPr id="100056" name="TextBox 7"/>
          <p:cNvSpPr/>
          <p:nvPr/>
        </p:nvSpPr>
        <p:spPr>
          <a:xfrm>
            <a:off x="6186600" y="1980000"/>
            <a:ext cx="792000" cy="792000"/>
          </a:xfrm>
          <a:prstGeom prst="rect">
            <a:avLst/>
          </a:prstGeom>
          <a:solidFill>
            <a:srgbClr val="CADCFC"/>
          </a:solidFill>
          <a:ln>
            <a:noFill/>
          </a:ln>
        </p:spPr>
        <p:txBody>
          <a:bodyPr anchor="ctr"/>
          <a:lstStyle/>
          <a:p>
            <a:pPr algn="ctr"/>
            <a:r>
              <a:rPr lang="en-US" sz="2000" b="1">
                <a:solidFill>
                  <a:srgbClr val="1E2761"/>
                </a:solidFill>
                <a:latin typeface="Hiragino Sans"/>
                <a:ea typeface="Hiragino Sans"/>
              </a:rPr>
              <a:t>E</a:t>
            </a:r>
          </a:p>
        </p:txBody>
      </p:sp>
      <p:sp>
        <p:nvSpPr>
          <p:cNvPr id="100057" name="TextBox 8"/>
          <p:cNvSpPr/>
          <p:nvPr/>
        </p:nvSpPr>
        <p:spPr>
          <a:xfrm>
            <a:off x="7158600" y="1980000"/>
            <a:ext cx="792000" cy="792000"/>
          </a:xfrm>
          <a:prstGeom prst="rect">
            <a:avLst/>
          </a:prstGeom>
          <a:solidFill>
            <a:srgbClr val="CADCFC"/>
          </a:solidFill>
          <a:ln>
            <a:noFill/>
          </a:ln>
        </p:spPr>
        <p:txBody>
          <a:bodyPr anchor="ctr"/>
          <a:lstStyle/>
          <a:p>
            <a:pPr algn="ctr"/>
            <a:r>
              <a:rPr lang="en-US" sz="2000" b="1">
                <a:solidFill>
                  <a:srgbClr val="1E2761"/>
                </a:solidFill>
                <a:latin typeface="Hiragino Sans"/>
                <a:ea typeface="Hiragino Sans"/>
              </a:rPr>
              <a:t>E</a:t>
            </a:r>
          </a:p>
        </p:txBody>
      </p:sp>
      <p:sp>
        <p:nvSpPr>
          <p:cNvPr id="100058" name="TextBox 9"/>
          <p:cNvSpPr/>
          <p:nvPr/>
        </p:nvSpPr>
        <p:spPr>
          <a:xfrm>
            <a:off x="8130600" y="1980000"/>
            <a:ext cx="792000" cy="792000"/>
          </a:xfrm>
          <a:prstGeom prst="rect">
            <a:avLst/>
          </a:prstGeom>
          <a:solidFill>
            <a:srgbClr val="CADCFC"/>
          </a:solidFill>
          <a:ln>
            <a:noFill/>
          </a:ln>
        </p:spPr>
        <p:txBody>
          <a:bodyPr anchor="ctr"/>
          <a:lstStyle/>
          <a:p>
            <a:pPr algn="ctr"/>
            <a:r>
              <a:rPr lang="en-US" sz="2000" b="1">
                <a:solidFill>
                  <a:srgbClr val="1E2761"/>
                </a:solidFill>
                <a:latin typeface="Hiragino Sans"/>
                <a:ea typeface="Hiragino Sans"/>
              </a:rPr>
              <a:t>E</a:t>
            </a:r>
          </a:p>
        </p:txBody>
      </p:sp>
      <p:sp>
        <p:nvSpPr>
          <p:cNvPr id="100059" name="TextBox 10"/>
          <p:cNvSpPr/>
          <p:nvPr/>
        </p:nvSpPr>
        <p:spPr>
          <a:xfrm>
            <a:off x="9102600" y="1980000"/>
            <a:ext cx="792000" cy="792000"/>
          </a:xfrm>
          <a:prstGeom prst="rect">
            <a:avLst/>
          </a:prstGeom>
          <a:solidFill>
            <a:srgbClr val="CADCFC"/>
          </a:solidFill>
          <a:ln>
            <a:noFill/>
          </a:ln>
        </p:spPr>
        <p:txBody>
          <a:bodyPr anchor="ctr"/>
          <a:lstStyle/>
          <a:p>
            <a:pPr algn="ctr"/>
            <a:r>
              <a:rPr lang="en-US" sz="2000" b="1">
                <a:solidFill>
                  <a:srgbClr val="1E2761"/>
                </a:solidFill>
                <a:latin typeface="Hiragino Sans"/>
                <a:ea typeface="Hiragino Sans"/>
              </a:rPr>
              <a:t>E</a:t>
            </a:r>
          </a:p>
        </p:txBody>
      </p:sp>
      <p:sp>
        <p:nvSpPr>
          <p:cNvPr id="100060" name="TextBox 11"/>
          <p:cNvSpPr/>
          <p:nvPr/>
        </p:nvSpPr>
        <p:spPr>
          <a:xfrm>
            <a:off x="10074600" y="1980000"/>
            <a:ext cx="792000" cy="792000"/>
          </a:xfrm>
          <a:prstGeom prst="rect">
            <a:avLst/>
          </a:prstGeom>
          <a:solidFill>
            <a:srgbClr val="CADCFC"/>
          </a:solidFill>
          <a:ln>
            <a:noFill/>
          </a:ln>
        </p:spPr>
        <p:txBody>
          <a:bodyPr anchor="ctr"/>
          <a:lstStyle/>
          <a:p>
            <a:pPr algn="ctr"/>
            <a:r>
              <a:rPr lang="en-US" sz="2000" b="1">
                <a:solidFill>
                  <a:srgbClr val="1E2761"/>
                </a:solidFill>
                <a:latin typeface="Hiragino Sans"/>
                <a:ea typeface="Hiragino Sans"/>
              </a:rPr>
              <a:t>E</a:t>
            </a:r>
          </a:p>
        </p:txBody>
      </p:sp>
      <p:sp>
        <p:nvSpPr>
          <p:cNvPr id="100061" name="TextBox 12"/>
          <p:cNvSpPr txBox="1"/>
          <p:nvPr/>
        </p:nvSpPr>
        <p:spPr>
          <a:xfrm>
            <a:off x="540000" y="2988000"/>
            <a:ext cx="11113200" cy="360000"/>
          </a:xfrm>
          <a:prstGeom prst="rect">
            <a:avLst/>
          </a:prstGeom>
        </p:spPr>
        <p:txBody>
          <a:bodyPr/>
          <a:lstStyle/>
          <a:p>
            <a:pPr algn="ctr"/>
            <a:r>
              <a:rPr lang="en-US" sz="1800">
                <a:solidFill>
                  <a:srgbClr val="333333"/>
                </a:solidFill>
                <a:latin typeface="Hiragino Sans"/>
                <a:ea typeface="Hiragino Sans"/>
              </a:rPr>
              <a:t>Pコア×4（速度 1.0）　Eコア×6（実測下限 0.26、全力でも推定 0.43）</a:t>
            </a:r>
          </a:p>
        </p:txBody>
      </p:sp>
      <p:sp>
        <p:nvSpPr>
          <p:cNvPr id="100062" name="TextBox 13"/>
          <p:cNvSpPr/>
          <p:nvPr/>
        </p:nvSpPr>
        <p:spPr>
          <a:xfrm>
            <a:off x="540000" y="3960000"/>
            <a:ext cx="11113200" cy="1980000"/>
          </a:xfrm>
          <a:prstGeom prst="roundRect">
            <a:avLst/>
          </a:prstGeom>
          <a:solidFill>
            <a:srgbClr val="F5F7FA"/>
          </a:solidFill>
          <a:ln>
            <a:noFill/>
          </a:ln>
        </p:spPr>
        <p:txBody>
          <a:bodyPr/>
          <a:lstStyle/>
          <a:p>
            <a:endParaRPr/>
          </a:p>
        </p:txBody>
      </p:sp>
      <p:sp>
        <p:nvSpPr>
          <p:cNvPr id="100063" name="TextBox 14"/>
          <p:cNvSpPr txBox="1"/>
          <p:nvPr/>
        </p:nvSpPr>
        <p:spPr>
          <a:xfrm>
            <a:off x="1080000" y="4392000"/>
            <a:ext cx="10033200" cy="1260000"/>
          </a:xfrm>
          <a:prstGeom prst="rect">
            <a:avLst/>
          </a:prstGeom>
        </p:spPr>
        <p:txBody>
          <a:bodyPr/>
          <a:lstStyle/>
          <a:p>
            <a:pPr algn="ctr"/>
            <a:r>
              <a:rPr lang="en-US" sz="1800">
                <a:solidFill>
                  <a:srgbClr val="333333"/>
                </a:solidFill>
                <a:latin typeface="Hiragino Sans"/>
                <a:ea typeface="Hiragino Sans"/>
              </a:rPr>
              <a:t>モデル 4 + 4×0.43 ≈ 5.7 に対し実測 5.26。効率92%、残り約8%が共有資源の競合。配り方の改善はこれ以上効かない</a:t>
            </a:r>
          </a:p>
        </p:txBody>
      </p:sp>
      <p:sp>
        <p:nvSpPr>
          <p:cNvPr id="100096" name="TextBox 15"/>
          <p:cNvSpPr/>
          <p:nvPr/>
        </p:nvSpPr>
        <p:spPr>
          <a:xfrm>
            <a:off x="11592000" y="6336000"/>
            <a:ext cx="360000" cy="360000"/>
          </a:xfrm>
          <a:prstGeom prst="ellipse">
            <a:avLst/>
          </a:prstGeom>
          <a:solidFill>
            <a:srgbClr val="1E2761"/>
          </a:solidFill>
          <a:ln>
            <a:noFill/>
          </a:ln>
        </p:spPr>
        <p:txBody>
          <a:bodyPr anchor="ctr"/>
          <a:lstStyle/>
          <a:p>
            <a:pPr algn="ctr"/>
            <a:r>
              <a:rPr lang="en-US" sz="1200">
                <a:solidFill>
                  <a:srgbClr val="FFFFFF"/>
                </a:solidFill>
                <a:latin typeface="Hiragino Sans"/>
                <a:ea typeface="Hiragino Sans"/>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064" name="TextBox 1"/>
          <p:cNvSpPr txBox="1"/>
          <p:nvPr/>
        </p:nvSpPr>
        <p:spPr>
          <a:xfrm>
            <a:off x="540000" y="360000"/>
            <a:ext cx="11113200" cy="648000"/>
          </a:xfrm>
          <a:prstGeom prst="rect">
            <a:avLst/>
          </a:prstGeom>
        </p:spPr>
        <p:txBody>
          <a:bodyPr/>
          <a:lstStyle/>
          <a:p>
            <a:r>
              <a:rPr lang="en-US" sz="3000" b="1">
                <a:solidFill>
                  <a:srgbClr val="1E2761"/>
                </a:solidFill>
                <a:latin typeface="Hiragino Sans"/>
                <a:ea typeface="Hiragino Sans"/>
              </a:rPr>
              <a:t>fork で起動コストが消えた</a:t>
            </a:r>
          </a:p>
        </p:txBody>
      </p:sp>
      <p:graphicFrame>
        <p:nvGraphicFramePr>
          <p:cNvPr id="100065" name="soc の total（秒）"/>
          <p:cNvGraphicFramePr/>
          <p:nvPr/>
        </p:nvGraphicFramePr>
        <p:xfrm>
          <a:off x="540000" y="1188000"/>
          <a:ext cx="7560000" cy="5220000"/>
        </p:xfrm>
        <a:graphic>
          <a:graphicData uri="http://schemas.openxmlformats.org/drawingml/2006/chart">
            <c:chart xmlns:c="http://schemas.openxmlformats.org/drawingml/2006/chart" xmlns:r="http://schemas.openxmlformats.org/officeDocument/2006/relationships" r:id="rId3"/>
          </a:graphicData>
        </a:graphic>
      </p:graphicFrame>
      <p:sp>
        <p:nvSpPr>
          <p:cNvPr id="100066" name="CardRight"/>
          <p:cNvSpPr/>
          <p:nvPr/>
        </p:nvSpPr>
        <p:spPr>
          <a:xfrm>
            <a:off x="8460000" y="1980000"/>
            <a:ext cx="3193200" cy="3240000"/>
          </a:xfrm>
          <a:prstGeom prst="roundRect">
            <a:avLst/>
          </a:prstGeom>
          <a:solidFill>
            <a:srgbClr val="F5F7FA"/>
          </a:solidFill>
          <a:ln>
            <a:noFill/>
          </a:ln>
        </p:spPr>
        <p:txBody>
          <a:bodyPr/>
          <a:lstStyle/>
          <a:p>
            <a:endParaRPr/>
          </a:p>
        </p:txBody>
      </p:sp>
      <p:sp>
        <p:nvSpPr>
          <p:cNvPr id="100067" name="TextBox 3"/>
          <p:cNvSpPr txBox="1"/>
          <p:nvPr/>
        </p:nvSpPr>
        <p:spPr>
          <a:xfrm>
            <a:off x="8712000" y="2232000"/>
            <a:ext cx="2700000" cy="2736000"/>
          </a:xfrm>
          <a:prstGeom prst="rect">
            <a:avLst/>
          </a:prstGeom>
        </p:spPr>
        <p:txBody>
          <a:bodyPr/>
          <a:lstStyle/>
          <a:p>
            <a:r>
              <a:rPr lang="en-US" sz="1800">
                <a:solidFill>
                  <a:srgbClr val="333333"/>
                </a:solidFill>
                <a:latin typeface="Hiragino Sans"/>
                <a:ea typeface="Hiragino Sans"/>
              </a:rPr>
              <a:t>fork は startup を 1.27秒 → 0.03秒に消し、小さい4グラフが並列化で得に転換。注: spawn は別セッションの測定</a:t>
            </a:r>
          </a:p>
        </p:txBody>
      </p:sp>
      <p:sp>
        <p:nvSpPr>
          <p:cNvPr id="100097" name="TextBox 4"/>
          <p:cNvSpPr/>
          <p:nvPr/>
        </p:nvSpPr>
        <p:spPr>
          <a:xfrm>
            <a:off x="11484000" y="6228000"/>
            <a:ext cx="468000" cy="468000"/>
          </a:xfrm>
          <a:prstGeom prst="ellipse">
            <a:avLst/>
          </a:prstGeom>
          <a:solidFill>
            <a:srgbClr val="1E2761"/>
          </a:solidFill>
          <a:ln>
            <a:noFill/>
          </a:ln>
        </p:spPr>
        <p:txBody>
          <a:bodyPr anchor="ctr">
            <a:normAutofit/>
          </a:bodyPr>
          <a:lstStyle/>
          <a:p>
            <a:pPr algn="ctr"/>
            <a:r>
              <a:rPr lang="en-US" sz="1200">
                <a:solidFill>
                  <a:srgbClr val="FFFFFF"/>
                </a:solidFill>
                <a:latin typeface="Hiragino Sans"/>
                <a:ea typeface="Hiragino Sans"/>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068" name="TextBox 1"/>
          <p:cNvSpPr txBox="1"/>
          <p:nvPr/>
        </p:nvSpPr>
        <p:spPr>
          <a:xfrm>
            <a:off x="540000" y="360000"/>
            <a:ext cx="11113200" cy="648000"/>
          </a:xfrm>
          <a:prstGeom prst="rect">
            <a:avLst/>
          </a:prstGeom>
        </p:spPr>
        <p:txBody>
          <a:bodyPr/>
          <a:lstStyle/>
          <a:p>
            <a:r>
              <a:rPr lang="en-US" sz="3000" b="1">
                <a:solidFill>
                  <a:srgbClr val="1E2761"/>
                </a:solidFill>
                <a:latin typeface="Hiragino Sans"/>
                <a:ea typeface="Hiragino Sans"/>
              </a:rPr>
              <a:t>予想外: shm の計算が fork より速い</a:t>
            </a:r>
          </a:p>
        </p:txBody>
      </p:sp>
      <p:sp>
        <p:nvSpPr>
          <p:cNvPr id="100069" name="TextBox 2"/>
          <p:cNvSpPr/>
          <p:nvPr/>
        </p:nvSpPr>
        <p:spPr>
          <a:xfrm>
            <a:off x="1778400" y="1440000"/>
            <a:ext cx="4320000" cy="2880000"/>
          </a:xfrm>
          <a:prstGeom prst="roundRect">
            <a:avLst/>
          </a:prstGeom>
          <a:solidFill>
            <a:srgbClr val="F5F7FA"/>
          </a:solidFill>
          <a:ln>
            <a:noFill/>
          </a:ln>
        </p:spPr>
        <p:txBody>
          <a:bodyPr/>
          <a:lstStyle/>
          <a:p>
            <a:endParaRPr/>
          </a:p>
        </p:txBody>
      </p:sp>
      <p:sp>
        <p:nvSpPr>
          <p:cNvPr id="100070" name="TextBox 3"/>
          <p:cNvSpPr txBox="1"/>
          <p:nvPr/>
        </p:nvSpPr>
        <p:spPr>
          <a:xfrm>
            <a:off x="1778400" y="1872000"/>
            <a:ext cx="4320000" cy="1080000"/>
          </a:xfrm>
          <a:prstGeom prst="rect">
            <a:avLst/>
          </a:prstGeom>
        </p:spPr>
        <p:txBody>
          <a:bodyPr/>
          <a:lstStyle/>
          <a:p>
            <a:pPr algn="ctr"/>
            <a:r>
              <a:rPr lang="en-US" sz="5400" b="1">
                <a:solidFill>
                  <a:srgbClr val="1E2761"/>
                </a:solidFill>
                <a:latin typeface="Hiragino Sans"/>
                <a:ea typeface="Hiragino Sans"/>
              </a:rPr>
              <a:t>85.2秒</a:t>
            </a:r>
          </a:p>
        </p:txBody>
      </p:sp>
      <p:sp>
        <p:nvSpPr>
          <p:cNvPr id="100071" name="TextBox 4"/>
          <p:cNvSpPr txBox="1"/>
          <p:nvPr/>
        </p:nvSpPr>
        <p:spPr>
          <a:xfrm>
            <a:off x="2030400" y="3168000"/>
            <a:ext cx="3816000" cy="900000"/>
          </a:xfrm>
          <a:prstGeom prst="rect">
            <a:avLst/>
          </a:prstGeom>
        </p:spPr>
        <p:txBody>
          <a:bodyPr/>
          <a:lstStyle/>
          <a:p>
            <a:pPr algn="ctr"/>
            <a:r>
              <a:rPr lang="en-US" sz="1400">
                <a:solidFill>
                  <a:srgbClr val="8899BB"/>
                </a:solidFill>
                <a:latin typeface="Hiragino Sans"/>
                <a:ea typeface="Hiragino Sans"/>
              </a:rPr>
              <a:t>shm の compute（soc、w=1）</a:t>
            </a:r>
          </a:p>
        </p:txBody>
      </p:sp>
      <p:sp>
        <p:nvSpPr>
          <p:cNvPr id="100072" name="TextBox 5"/>
          <p:cNvSpPr/>
          <p:nvPr/>
        </p:nvSpPr>
        <p:spPr>
          <a:xfrm>
            <a:off x="6094800" y="1440000"/>
            <a:ext cx="4320000" cy="2880000"/>
          </a:xfrm>
          <a:prstGeom prst="roundRect">
            <a:avLst/>
          </a:prstGeom>
          <a:solidFill>
            <a:srgbClr val="F5F7FA"/>
          </a:solidFill>
          <a:ln>
            <a:noFill/>
          </a:ln>
        </p:spPr>
        <p:txBody>
          <a:bodyPr/>
          <a:lstStyle/>
          <a:p>
            <a:endParaRPr/>
          </a:p>
        </p:txBody>
      </p:sp>
      <p:sp>
        <p:nvSpPr>
          <p:cNvPr id="100073" name="TextBox 6"/>
          <p:cNvSpPr txBox="1"/>
          <p:nvPr/>
        </p:nvSpPr>
        <p:spPr>
          <a:xfrm>
            <a:off x="6094800" y="1872000"/>
            <a:ext cx="4320000" cy="1080000"/>
          </a:xfrm>
          <a:prstGeom prst="rect">
            <a:avLst/>
          </a:prstGeom>
        </p:spPr>
        <p:txBody>
          <a:bodyPr/>
          <a:lstStyle/>
          <a:p>
            <a:pPr algn="ctr"/>
            <a:r>
              <a:rPr lang="en-US" sz="5400" b="1">
                <a:solidFill>
                  <a:srgbClr val="1E2761"/>
                </a:solidFill>
                <a:latin typeface="Hiragino Sans"/>
                <a:ea typeface="Hiragino Sans"/>
              </a:rPr>
              <a:t>96.2秒</a:t>
            </a:r>
          </a:p>
        </p:txBody>
      </p:sp>
      <p:sp>
        <p:nvSpPr>
          <p:cNvPr id="100074" name="TextBox 7"/>
          <p:cNvSpPr txBox="1"/>
          <p:nvPr/>
        </p:nvSpPr>
        <p:spPr>
          <a:xfrm>
            <a:off x="6346800" y="3168000"/>
            <a:ext cx="3816000" cy="900000"/>
          </a:xfrm>
          <a:prstGeom prst="rect">
            <a:avLst/>
          </a:prstGeom>
        </p:spPr>
        <p:txBody>
          <a:bodyPr/>
          <a:lstStyle/>
          <a:p>
            <a:pPr algn="ctr"/>
            <a:r>
              <a:rPr lang="en-US" sz="1400">
                <a:solidFill>
                  <a:srgbClr val="8899BB"/>
                </a:solidFill>
                <a:latin typeface="Hiragino Sans"/>
                <a:ea typeface="Hiragino Sans"/>
              </a:rPr>
              <a:t>fork の compute（同条件、カーネルは同一）</a:t>
            </a:r>
          </a:p>
        </p:txBody>
      </p:sp>
      <p:sp>
        <p:nvSpPr>
          <p:cNvPr id="100075" name="TextBox 8"/>
          <p:cNvSpPr txBox="1"/>
          <p:nvPr/>
        </p:nvSpPr>
        <p:spPr>
          <a:xfrm>
            <a:off x="1080000" y="4860000"/>
            <a:ext cx="10033200" cy="1260000"/>
          </a:xfrm>
          <a:prstGeom prst="rect">
            <a:avLst/>
          </a:prstGeom>
        </p:spPr>
        <p:txBody>
          <a:bodyPr/>
          <a:lstStyle/>
          <a:p>
            <a:pPr algn="ctr"/>
            <a:r>
              <a:rPr lang="en-US" sz="1800">
                <a:solidFill>
                  <a:srgbClr val="333333"/>
                </a:solidFill>
                <a:latin typeface="Hiragino Sans"/>
                <a:ea typeface="Hiragino Sans"/>
              </a:rPr>
              <a:t>fork の copy-on-write は、参照カウントの書き込みでページコピーが計算中に遅延発生する（仮説、未検証）。startup の安さの一部は compute に付け替えられている可能性</a:t>
            </a:r>
          </a:p>
        </p:txBody>
      </p:sp>
      <p:sp>
        <p:nvSpPr>
          <p:cNvPr id="100098" name="TextBox 9"/>
          <p:cNvSpPr/>
          <p:nvPr/>
        </p:nvSpPr>
        <p:spPr>
          <a:xfrm>
            <a:off x="11484000" y="6228000"/>
            <a:ext cx="468000" cy="468000"/>
          </a:xfrm>
          <a:prstGeom prst="ellipse">
            <a:avLst/>
          </a:prstGeom>
          <a:solidFill>
            <a:srgbClr val="1E2761"/>
          </a:solidFill>
          <a:ln>
            <a:noFill/>
          </a:ln>
        </p:spPr>
        <p:txBody>
          <a:bodyPr anchor="ctr">
            <a:normAutofit/>
          </a:bodyPr>
          <a:lstStyle/>
          <a:p>
            <a:pPr algn="ctr"/>
            <a:r>
              <a:rPr lang="en-US" sz="1200">
                <a:solidFill>
                  <a:srgbClr val="FFFFFF"/>
                </a:solidFill>
                <a:latin typeface="Hiragino Sans"/>
                <a:ea typeface="Hiragino Sans"/>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076" name="TextBox 1"/>
          <p:cNvSpPr txBox="1"/>
          <p:nvPr/>
        </p:nvSpPr>
        <p:spPr>
          <a:xfrm>
            <a:off x="540000" y="360000"/>
            <a:ext cx="11113200" cy="648000"/>
          </a:xfrm>
          <a:prstGeom prst="rect">
            <a:avLst/>
          </a:prstGeom>
        </p:spPr>
        <p:txBody>
          <a:bodyPr/>
          <a:lstStyle/>
          <a:p>
            <a:r>
              <a:rPr lang="en-US" sz="3000" b="1">
                <a:solidFill>
                  <a:srgbClr val="1E2761"/>
                </a:solidFill>
                <a:latin typeface="Hiragino Sans"/>
                <a:ea typeface="Hiragino Sans"/>
              </a:rPr>
              <a:t>まとめ: 96秒 → 26.5秒</a:t>
            </a:r>
          </a:p>
        </p:txBody>
      </p:sp>
      <p:sp>
        <p:nvSpPr>
          <p:cNvPr id="100077" name="TextBox 2"/>
          <p:cNvSpPr txBox="1"/>
          <p:nvPr/>
        </p:nvSpPr>
        <p:spPr>
          <a:xfrm>
            <a:off x="540000" y="1800000"/>
            <a:ext cx="11113200" cy="1152000"/>
          </a:xfrm>
          <a:prstGeom prst="rect">
            <a:avLst/>
          </a:prstGeom>
        </p:spPr>
        <p:txBody>
          <a:bodyPr/>
          <a:lstStyle/>
          <a:p>
            <a:pPr algn="ctr"/>
            <a:r>
              <a:rPr lang="en-US" sz="5400" b="1">
                <a:solidFill>
                  <a:srgbClr val="1E2761"/>
                </a:solidFill>
                <a:latin typeface="Hiragino Sans"/>
                <a:ea typeface="Hiragino Sans"/>
              </a:rPr>
              <a:t>96.5 → 26.5 秒</a:t>
            </a:r>
          </a:p>
        </p:txBody>
      </p:sp>
      <p:sp>
        <p:nvSpPr>
          <p:cNvPr id="100078" name="TextBox 3"/>
          <p:cNvSpPr txBox="1"/>
          <p:nvPr/>
        </p:nvSpPr>
        <p:spPr>
          <a:xfrm>
            <a:off x="540000" y="3024000"/>
            <a:ext cx="11113200" cy="432000"/>
          </a:xfrm>
          <a:prstGeom prst="rect">
            <a:avLst/>
          </a:prstGeom>
        </p:spPr>
        <p:txBody>
          <a:bodyPr/>
          <a:lstStyle/>
          <a:p>
            <a:pPr algn="ctr"/>
            <a:r>
              <a:rPr lang="en-US" sz="1400">
                <a:solidFill>
                  <a:srgbClr val="8899BB"/>
                </a:solidFill>
                <a:latin typeface="Hiragino Sans"/>
                <a:ea typeface="Hiragino Sans"/>
              </a:rPr>
              <a:t>soc の total（w=1 → w=8、同一セッション、3.6倍）</a:t>
            </a:r>
          </a:p>
        </p:txBody>
      </p:sp>
      <p:sp>
        <p:nvSpPr>
          <p:cNvPr id="100079" name="TextBox 4"/>
          <p:cNvSpPr txBox="1"/>
          <p:nvPr/>
        </p:nvSpPr>
        <p:spPr>
          <a:xfrm>
            <a:off x="1080000" y="4140000"/>
            <a:ext cx="10033200" cy="1620000"/>
          </a:xfrm>
          <a:prstGeom prst="rect">
            <a:avLst/>
          </a:prstGeom>
        </p:spPr>
        <p:txBody>
          <a:bodyPr/>
          <a:lstStyle/>
          <a:p>
            <a:pPr algn="ctr"/>
            <a:r>
              <a:rPr lang="en-US" sz="1800">
                <a:solidFill>
                  <a:srgbClr val="333333"/>
                </a:solidFill>
                <a:latin typeface="Hiragino Sans"/>
                <a:ea typeface="Hiragino Sans"/>
              </a:rPr>
              <a:t>並列化の性能は、アルゴリズムだけでなく、起動固定費・負荷分布・ハードウェアの非対称性・メモリ共有方式で決まる。本研究はそれを測定で一つずつ分解した</a:t>
            </a:r>
          </a:p>
        </p:txBody>
      </p:sp>
      <p:sp>
        <p:nvSpPr>
          <p:cNvPr id="100099" name="TextBox 5"/>
          <p:cNvSpPr/>
          <p:nvPr/>
        </p:nvSpPr>
        <p:spPr>
          <a:xfrm>
            <a:off x="11484000" y="6228000"/>
            <a:ext cx="468000" cy="468000"/>
          </a:xfrm>
          <a:prstGeom prst="ellipse">
            <a:avLst/>
          </a:prstGeom>
          <a:solidFill>
            <a:srgbClr val="1E2761"/>
          </a:solidFill>
          <a:ln>
            <a:noFill/>
          </a:ln>
        </p:spPr>
        <p:txBody>
          <a:bodyPr anchor="ctr">
            <a:normAutofit/>
          </a:bodyPr>
          <a:lstStyle/>
          <a:p>
            <a:pPr algn="ctr"/>
            <a:r>
              <a:rPr lang="en-US" sz="1200">
                <a:solidFill>
                  <a:srgbClr val="FFFFFF"/>
                </a:solidFill>
                <a:latin typeface="Hiragino Sans"/>
                <a:ea typeface="Hiragino Sans"/>
              </a:rP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080" name="TextBox 1"/>
          <p:cNvSpPr txBox="1"/>
          <p:nvPr/>
        </p:nvSpPr>
        <p:spPr>
          <a:xfrm>
            <a:off x="540000" y="360000"/>
            <a:ext cx="11113200" cy="648000"/>
          </a:xfrm>
          <a:prstGeom prst="rect">
            <a:avLst/>
          </a:prstGeom>
        </p:spPr>
        <p:txBody>
          <a:bodyPr/>
          <a:lstStyle/>
          <a:p>
            <a:r>
              <a:rPr lang="en-US" sz="3000" b="1">
                <a:solidFill>
                  <a:srgbClr val="1E2761"/>
                </a:solidFill>
                <a:latin typeface="Hiragino Sans"/>
                <a:ea typeface="Hiragino Sans"/>
              </a:rPr>
              <a:t>残る課題</a:t>
            </a:r>
          </a:p>
        </p:txBody>
      </p:sp>
      <p:sp>
        <p:nvSpPr>
          <p:cNvPr id="100081" name="TextBox 2"/>
          <p:cNvSpPr/>
          <p:nvPr/>
        </p:nvSpPr>
        <p:spPr>
          <a:xfrm>
            <a:off x="720000" y="1620000"/>
            <a:ext cx="432000" cy="468000"/>
          </a:xfrm>
          <a:prstGeom prst="ellipse">
            <a:avLst/>
          </a:prstGeom>
          <a:solidFill>
            <a:srgbClr val="1E2761"/>
          </a:solidFill>
          <a:ln>
            <a:noFill/>
          </a:ln>
        </p:spPr>
        <p:txBody>
          <a:bodyPr anchor="ctr"/>
          <a:lstStyle/>
          <a:p>
            <a:pPr algn="ctr"/>
            <a:r>
              <a:rPr lang="en-US" sz="1800" b="1">
                <a:solidFill>
                  <a:srgbClr val="FFFFFF"/>
                </a:solidFill>
                <a:latin typeface="Hiragino Sans"/>
                <a:ea typeface="Hiragino Sans"/>
              </a:rPr>
              <a:t>1</a:t>
            </a:r>
          </a:p>
        </p:txBody>
      </p:sp>
      <p:sp>
        <p:nvSpPr>
          <p:cNvPr id="100082" name="TextBox 3"/>
          <p:cNvSpPr txBox="1"/>
          <p:nvPr/>
        </p:nvSpPr>
        <p:spPr>
          <a:xfrm>
            <a:off x="1440000" y="1620000"/>
            <a:ext cx="9720000" cy="432000"/>
          </a:xfrm>
          <a:prstGeom prst="rect">
            <a:avLst/>
          </a:prstGeom>
        </p:spPr>
        <p:txBody>
          <a:bodyPr anchor="ctr"/>
          <a:lstStyle/>
          <a:p>
            <a:r>
              <a:rPr lang="en-US" sz="2000">
                <a:solidFill>
                  <a:srgbClr val="333333"/>
                </a:solidFill>
                <a:latin typeface="Hiragino Sans"/>
                <a:ea typeface="Hiragino Sans"/>
              </a:rPr>
              <a:t>work stealing による動的スケジューリング（先行研究の定石）</a:t>
            </a:r>
          </a:p>
        </p:txBody>
      </p:sp>
      <p:sp>
        <p:nvSpPr>
          <p:cNvPr id="100083" name="TextBox 4"/>
          <p:cNvSpPr/>
          <p:nvPr/>
        </p:nvSpPr>
        <p:spPr>
          <a:xfrm>
            <a:off x="720000" y="2700000"/>
            <a:ext cx="432000" cy="468000"/>
          </a:xfrm>
          <a:prstGeom prst="ellipse">
            <a:avLst/>
          </a:prstGeom>
          <a:solidFill>
            <a:srgbClr val="1E2761"/>
          </a:solidFill>
          <a:ln>
            <a:noFill/>
          </a:ln>
        </p:spPr>
        <p:txBody>
          <a:bodyPr anchor="ctr"/>
          <a:lstStyle/>
          <a:p>
            <a:pPr algn="ctr"/>
            <a:r>
              <a:rPr lang="en-US" sz="1800" b="1">
                <a:solidFill>
                  <a:srgbClr val="FFFFFF"/>
                </a:solidFill>
                <a:latin typeface="Hiragino Sans"/>
                <a:ea typeface="Hiragino Sans"/>
              </a:rPr>
              <a:t>2</a:t>
            </a:r>
          </a:p>
        </p:txBody>
      </p:sp>
      <p:sp>
        <p:nvSpPr>
          <p:cNvPr id="100084" name="TextBox 5"/>
          <p:cNvSpPr txBox="1"/>
          <p:nvPr/>
        </p:nvSpPr>
        <p:spPr>
          <a:xfrm>
            <a:off x="1440000" y="2700000"/>
            <a:ext cx="9720000" cy="432000"/>
          </a:xfrm>
          <a:prstGeom prst="rect">
            <a:avLst/>
          </a:prstGeom>
        </p:spPr>
        <p:txBody>
          <a:bodyPr anchor="ctr"/>
          <a:lstStyle/>
          <a:p>
            <a:r>
              <a:rPr lang="en-US" sz="2000">
                <a:solidFill>
                  <a:srgbClr val="333333"/>
                </a:solidFill>
                <a:latin typeface="Hiragino Sans"/>
                <a:ea typeface="Hiragino Sans"/>
              </a:rPr>
              <a:t>CoW 遅延コスト説の切り分け（gc.freeze）</a:t>
            </a:r>
          </a:p>
        </p:txBody>
      </p:sp>
      <p:sp>
        <p:nvSpPr>
          <p:cNvPr id="100085" name="TextBox 6"/>
          <p:cNvSpPr/>
          <p:nvPr/>
        </p:nvSpPr>
        <p:spPr>
          <a:xfrm>
            <a:off x="720000" y="3780000"/>
            <a:ext cx="432000" cy="468000"/>
          </a:xfrm>
          <a:prstGeom prst="ellipse">
            <a:avLst/>
          </a:prstGeom>
          <a:solidFill>
            <a:srgbClr val="1E2761"/>
          </a:solidFill>
          <a:ln>
            <a:noFill/>
          </a:ln>
        </p:spPr>
        <p:txBody>
          <a:bodyPr anchor="ctr"/>
          <a:lstStyle/>
          <a:p>
            <a:pPr algn="ctr"/>
            <a:r>
              <a:rPr lang="en-US" sz="1800" b="1">
                <a:solidFill>
                  <a:srgbClr val="FFFFFF"/>
                </a:solidFill>
                <a:latin typeface="Hiragino Sans"/>
                <a:ea typeface="Hiragino Sans"/>
              </a:rPr>
              <a:t>3</a:t>
            </a:r>
          </a:p>
        </p:txBody>
      </p:sp>
      <p:sp>
        <p:nvSpPr>
          <p:cNvPr id="100086" name="TextBox 7"/>
          <p:cNvSpPr txBox="1"/>
          <p:nvPr/>
        </p:nvSpPr>
        <p:spPr>
          <a:xfrm>
            <a:off x="1440000" y="3780000"/>
            <a:ext cx="9720000" cy="432000"/>
          </a:xfrm>
          <a:prstGeom prst="rect">
            <a:avLst/>
          </a:prstGeom>
        </p:spPr>
        <p:txBody>
          <a:bodyPr anchor="ctr"/>
          <a:lstStyle/>
          <a:p>
            <a:r>
              <a:rPr lang="en-US" sz="2000">
                <a:solidFill>
                  <a:srgbClr val="333333"/>
                </a:solidFill>
                <a:latin typeface="Hiragino Sans"/>
                <a:ea typeface="Hiragino Sans"/>
              </a:rPr>
              <a:t>E コア実クロックの確定（powermetrics）</a:t>
            </a:r>
          </a:p>
        </p:txBody>
      </p:sp>
      <p:sp>
        <p:nvSpPr>
          <p:cNvPr id="100087" name="TextBox 8"/>
          <p:cNvSpPr/>
          <p:nvPr/>
        </p:nvSpPr>
        <p:spPr>
          <a:xfrm>
            <a:off x="720000" y="4860000"/>
            <a:ext cx="432000" cy="468000"/>
          </a:xfrm>
          <a:prstGeom prst="ellipse">
            <a:avLst/>
          </a:prstGeom>
          <a:solidFill>
            <a:srgbClr val="1E2761"/>
          </a:solidFill>
          <a:ln>
            <a:noFill/>
          </a:ln>
        </p:spPr>
        <p:txBody>
          <a:bodyPr anchor="ctr"/>
          <a:lstStyle/>
          <a:p>
            <a:pPr algn="ctr"/>
            <a:r>
              <a:rPr lang="en-US" sz="1800" b="1">
                <a:solidFill>
                  <a:srgbClr val="FFFFFF"/>
                </a:solidFill>
                <a:latin typeface="Hiragino Sans"/>
                <a:ea typeface="Hiragino Sans"/>
              </a:rPr>
              <a:t>4</a:t>
            </a:r>
          </a:p>
        </p:txBody>
      </p:sp>
      <p:sp>
        <p:nvSpPr>
          <p:cNvPr id="100088" name="TextBox 9"/>
          <p:cNvSpPr txBox="1"/>
          <p:nvPr/>
        </p:nvSpPr>
        <p:spPr>
          <a:xfrm>
            <a:off x="1440000" y="4860000"/>
            <a:ext cx="9720000" cy="432000"/>
          </a:xfrm>
          <a:prstGeom prst="rect">
            <a:avLst/>
          </a:prstGeom>
        </p:spPr>
        <p:txBody>
          <a:bodyPr anchor="ctr"/>
          <a:lstStyle/>
          <a:p>
            <a:r>
              <a:rPr lang="en-US" sz="2000">
                <a:solidFill>
                  <a:srgbClr val="333333"/>
                </a:solidFill>
                <a:latin typeface="Hiragino Sans"/>
                <a:ea typeface="Hiragino Sans"/>
              </a:rPr>
              <a:t>CSR 化と単一重サブ問題の内部分割</a:t>
            </a:r>
          </a:p>
        </p:txBody>
      </p:sp>
      <p:sp>
        <p:nvSpPr>
          <p:cNvPr id="100100" name="TextBox 10"/>
          <p:cNvSpPr/>
          <p:nvPr/>
        </p:nvSpPr>
        <p:spPr>
          <a:xfrm>
            <a:off x="11484000" y="6228000"/>
            <a:ext cx="468000" cy="468000"/>
          </a:xfrm>
          <a:prstGeom prst="ellipse">
            <a:avLst/>
          </a:prstGeom>
          <a:solidFill>
            <a:srgbClr val="1E2761"/>
          </a:solidFill>
          <a:ln>
            <a:noFill/>
          </a:ln>
        </p:spPr>
        <p:txBody>
          <a:bodyPr anchor="ctr">
            <a:normAutofit/>
          </a:bodyPr>
          <a:lstStyle/>
          <a:p>
            <a:pPr algn="ctr"/>
            <a:r>
              <a:rPr lang="en-US" sz="1200">
                <a:solidFill>
                  <a:srgbClr val="FFFFFF"/>
                </a:solidFill>
                <a:latin typeface="Hiragino Sans"/>
                <a:ea typeface="Hiragino Sans"/>
              </a:rPr>
              <a:t>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650</Words>
  <Application>Microsoft Macintosh PowerPoint</Application>
  <PresentationFormat>ワイド画面</PresentationFormat>
  <Paragraphs>115</Paragraphs>
  <Slides>13</Slides>
  <Notes>13</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13</vt:i4>
      </vt:variant>
    </vt:vector>
  </HeadingPairs>
  <TitlesOfParts>
    <vt:vector size="16" baseType="lpstr">
      <vt:lpstr>Hiragino Sans</vt:lpstr>
      <vt:lpstr>Arial</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OfficeCLI</dc:creator>
  <cp:lastModifiedBy>中嶋 空偉</cp:lastModifiedBy>
  <cp:revision>1</cp:revision>
  <dcterms:created xsi:type="dcterms:W3CDTF">2026-07-21T11:59:46Z</dcterms:created>
  <dcterms:modified xsi:type="dcterms:W3CDTF">2026-07-21T12:28:38Z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ceCLI.Version">
    <vt:lpwstr>1.0.139</vt:lpwstr>
  </property>
  <property fmtid="{D5CDD505-2E9C-101B-9397-08002B2CF9AE}" pid="3" name="OfficeCLI.LastModified">
    <vt:lpwstr>2026-07-21T12:10:34Z</vt:lpwstr>
  </property>
</Properties>
</file>